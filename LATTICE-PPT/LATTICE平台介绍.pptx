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9" Type="http://schemas.openxmlformats.org/officeDocument/2006/relationships/slide" Target="slides/slide9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5" Type="http://schemas.openxmlformats.org/officeDocument/2006/relationships/presProps" Target="presProps.xml" /><Relationship Id="rId14" Type="http://schemas.openxmlformats.org/officeDocument/2006/relationships/slide" Target="slides/slide14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1" Type="http://schemas.openxmlformats.org/officeDocument/2006/relationships/theme" Target="../theme/theme1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4" Type="http://schemas.openxmlformats.org/officeDocument/2006/relationships/slideLayout" Target="../slideLayouts/slideLayout5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Relationship Id="rId5" Type="http://schemas.openxmlformats.org/officeDocument/2006/relationships/slideLayout" Target="../slideLayouts/slideLayout6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3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4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5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7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353312" y="987552"/>
            <a:ext cx="1463040" cy="777240"/>
          </a:xfrm>
          <a:prstGeom prst="line">
            <a:avLst/>
          </a:prstGeom>
          <a:ln w="17780">
            <a:solidFill>
              <a:srgbClr val="22B8A6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2359152" y="1764792"/>
            <a:ext cx="457200" cy="1508760"/>
          </a:xfrm>
          <a:prstGeom prst="line">
            <a:avLst/>
          </a:prstGeom>
          <a:ln w="17780">
            <a:solidFill>
              <a:srgbClr val="22B8A6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2816352" y="1307592"/>
            <a:ext cx="1463040" cy="457200"/>
          </a:xfrm>
          <a:prstGeom prst="line">
            <a:avLst/>
          </a:prstGeom>
          <a:ln w="17780">
            <a:solidFill>
              <a:srgbClr val="22B8A6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359152" y="3273552"/>
            <a:ext cx="1463039" cy="594360"/>
          </a:xfrm>
          <a:prstGeom prst="line">
            <a:avLst/>
          </a:prstGeom>
          <a:ln w="17780">
            <a:solidFill>
              <a:srgbClr val="22B8A6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79392" y="1307592"/>
            <a:ext cx="1554480" cy="731520"/>
          </a:xfrm>
          <a:prstGeom prst="line">
            <a:avLst/>
          </a:prstGeom>
          <a:ln w="17780">
            <a:solidFill>
              <a:srgbClr val="22B8A6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285232" y="2039112"/>
            <a:ext cx="548640" cy="1645920"/>
          </a:xfrm>
          <a:prstGeom prst="line">
            <a:avLst/>
          </a:prstGeom>
          <a:ln w="17780">
            <a:solidFill>
              <a:srgbClr val="22B8A6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79392" y="1307592"/>
            <a:ext cx="3657600" cy="137160"/>
          </a:xfrm>
          <a:prstGeom prst="line">
            <a:avLst/>
          </a:prstGeom>
          <a:ln w="17780">
            <a:solidFill>
              <a:srgbClr val="22B8A6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571231" y="1444752"/>
            <a:ext cx="365761" cy="2560320"/>
          </a:xfrm>
          <a:prstGeom prst="line">
            <a:avLst/>
          </a:prstGeom>
          <a:ln w="17780">
            <a:solidFill>
              <a:srgbClr val="22B8A6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33872" y="2039112"/>
            <a:ext cx="3657600" cy="502920"/>
          </a:xfrm>
          <a:prstGeom prst="line">
            <a:avLst/>
          </a:prstGeom>
          <a:ln w="17780">
            <a:solidFill>
              <a:srgbClr val="22B8A6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571231" y="4005072"/>
            <a:ext cx="1371601" cy="91440"/>
          </a:xfrm>
          <a:prstGeom prst="line">
            <a:avLst/>
          </a:prstGeom>
          <a:ln w="17780">
            <a:solidFill>
              <a:srgbClr val="22B8A6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822191" y="2542032"/>
            <a:ext cx="5669281" cy="1325880"/>
          </a:xfrm>
          <a:prstGeom prst="line">
            <a:avLst/>
          </a:prstGeom>
          <a:ln w="17780">
            <a:solidFill>
              <a:srgbClr val="22B8A6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53312" y="987552"/>
            <a:ext cx="1005840" cy="2286000"/>
          </a:xfrm>
          <a:prstGeom prst="line">
            <a:avLst/>
          </a:prstGeom>
          <a:ln w="17780">
            <a:solidFill>
              <a:srgbClr val="22B8A6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280160" y="914400"/>
            <a:ext cx="256032" cy="256032"/>
          </a:xfrm>
          <a:prstGeom prst="ellipse">
            <a:avLst/>
          </a:prstGeom>
          <a:solidFill>
            <a:srgbClr val="7F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16151" y="850392"/>
            <a:ext cx="384048" cy="384048"/>
          </a:xfrm>
          <a:prstGeom prst="ellipse">
            <a:avLst/>
          </a:prstGeom>
          <a:solidFill>
            <a:srgbClr val="22B8A6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743200" y="1691640"/>
            <a:ext cx="256032" cy="256032"/>
          </a:xfrm>
          <a:prstGeom prst="ellipse">
            <a:avLst/>
          </a:prstGeom>
          <a:solidFill>
            <a:srgbClr val="7F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679192" y="1627632"/>
            <a:ext cx="384048" cy="384048"/>
          </a:xfrm>
          <a:prstGeom prst="ellipse">
            <a:avLst/>
          </a:prstGeom>
          <a:solidFill>
            <a:srgbClr val="22B8A6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286000" y="3200400"/>
            <a:ext cx="256032" cy="256032"/>
          </a:xfrm>
          <a:prstGeom prst="ellipse">
            <a:avLst/>
          </a:prstGeom>
          <a:solidFill>
            <a:srgbClr val="7F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221992" y="3136392"/>
            <a:ext cx="384048" cy="384048"/>
          </a:xfrm>
          <a:prstGeom prst="ellipse">
            <a:avLst/>
          </a:prstGeom>
          <a:solidFill>
            <a:srgbClr val="22B8A6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206240" y="1234440"/>
            <a:ext cx="256032" cy="256032"/>
          </a:xfrm>
          <a:prstGeom prst="ellipse">
            <a:avLst/>
          </a:prstGeom>
          <a:solidFill>
            <a:srgbClr val="7F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142231" y="1170432"/>
            <a:ext cx="384048" cy="384048"/>
          </a:xfrm>
          <a:prstGeom prst="ellipse">
            <a:avLst/>
          </a:prstGeom>
          <a:solidFill>
            <a:srgbClr val="22B8A6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749039" y="3794760"/>
            <a:ext cx="256032" cy="256032"/>
          </a:xfrm>
          <a:prstGeom prst="ellipse">
            <a:avLst/>
          </a:prstGeom>
          <a:solidFill>
            <a:srgbClr val="7F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685031" y="3730752"/>
            <a:ext cx="384048" cy="384048"/>
          </a:xfrm>
          <a:prstGeom prst="ellipse">
            <a:avLst/>
          </a:prstGeom>
          <a:solidFill>
            <a:srgbClr val="22B8A6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760720" y="1965960"/>
            <a:ext cx="256032" cy="256032"/>
          </a:xfrm>
          <a:prstGeom prst="ellipse">
            <a:avLst/>
          </a:prstGeom>
          <a:solidFill>
            <a:srgbClr val="7F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696712" y="1901952"/>
            <a:ext cx="384048" cy="384048"/>
          </a:xfrm>
          <a:prstGeom prst="ellipse">
            <a:avLst/>
          </a:prstGeom>
          <a:solidFill>
            <a:srgbClr val="22B8A6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212080" y="3611880"/>
            <a:ext cx="256032" cy="256032"/>
          </a:xfrm>
          <a:prstGeom prst="ellipse">
            <a:avLst/>
          </a:prstGeom>
          <a:solidFill>
            <a:srgbClr val="7F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148072" y="3547872"/>
            <a:ext cx="384048" cy="384048"/>
          </a:xfrm>
          <a:prstGeom prst="ellipse">
            <a:avLst/>
          </a:prstGeom>
          <a:solidFill>
            <a:srgbClr val="22B8A6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863840" y="1371600"/>
            <a:ext cx="256032" cy="256032"/>
          </a:xfrm>
          <a:prstGeom prst="ellipse">
            <a:avLst/>
          </a:prstGeom>
          <a:solidFill>
            <a:srgbClr val="7F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799831" y="1307592"/>
            <a:ext cx="384048" cy="384048"/>
          </a:xfrm>
          <a:prstGeom prst="ellipse">
            <a:avLst/>
          </a:prstGeom>
          <a:solidFill>
            <a:srgbClr val="22B8A6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498079" y="3931920"/>
            <a:ext cx="256032" cy="256032"/>
          </a:xfrm>
          <a:prstGeom prst="ellipse">
            <a:avLst/>
          </a:prstGeom>
          <a:solidFill>
            <a:srgbClr val="7F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434071" y="3867911"/>
            <a:ext cx="384048" cy="384048"/>
          </a:xfrm>
          <a:prstGeom prst="ellipse">
            <a:avLst/>
          </a:prstGeom>
          <a:solidFill>
            <a:srgbClr val="22B8A6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418320" y="2468880"/>
            <a:ext cx="256032" cy="256032"/>
          </a:xfrm>
          <a:prstGeom prst="ellipse">
            <a:avLst/>
          </a:prstGeom>
          <a:solidFill>
            <a:srgbClr val="7F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354312" y="2404872"/>
            <a:ext cx="384048" cy="384048"/>
          </a:xfrm>
          <a:prstGeom prst="ellipse">
            <a:avLst/>
          </a:prstGeom>
          <a:solidFill>
            <a:srgbClr val="22B8A6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869680" y="4023360"/>
            <a:ext cx="256032" cy="256032"/>
          </a:xfrm>
          <a:prstGeom prst="ellipse">
            <a:avLst/>
          </a:prstGeom>
          <a:solidFill>
            <a:srgbClr val="7F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805672" y="3959352"/>
            <a:ext cx="384048" cy="384048"/>
          </a:xfrm>
          <a:prstGeom prst="ellipse">
            <a:avLst/>
          </a:prstGeom>
          <a:solidFill>
            <a:srgbClr val="22B8A6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7FE9DC"/>
                </a:solidFill>
                <a:latin typeface="Microsoft YaHei"/>
                <a:ea typeface="Microsoft YaHei"/>
                <a:cs typeface="Microsoft YaHei"/>
              </a:rPr>
              <a:t>十环节科研流水线 · 零部署 · 真实论文锚定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246888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LATTICE</a:t>
            </a: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928" y="37033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7FE9DC"/>
                </a:solidFill>
                <a:latin typeface="Microsoft YaHei"/>
                <a:ea typeface="Microsoft YaHei"/>
                <a:cs typeface="Microsoft YaHei"/>
              </a:rPr>
              <a:t>材料学科科研自动化平台</a:t>
            </a:r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94360" y="4343400"/>
            <a:ext cx="1005840" cy="54864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45720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CFE9E4"/>
                </a:solidFill>
                <a:latin typeface="Microsoft YaHei"/>
                <a:ea typeface="Microsoft YaHei"/>
                <a:cs typeface="Microsoft YaHei"/>
              </a:rPr>
              <a:t>让每一篇文献，自动长成一篇可投稿的成果</a:t>
            </a: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972800" y="63093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CFE9E4"/>
                </a:solidFill>
                <a:latin typeface="Microsoft YaHei"/>
                <a:ea typeface="Microsoft YaHei"/>
                <a:cs typeface="Microsoft YaHei"/>
              </a:rPr>
              <a:t>01 / 14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2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0E3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3"/>
          <p:cNvSpPr txBox="1"/>
          <p:nvPr/>
        </p:nvSpPr>
        <p:spPr>
          <a:xfrm>
            <a:off x="502920" y="256032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6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</a:t>
            </a:r>
            <a:endParaRPr/>
          </a:p>
        </p:txBody>
      </p:sp>
      <p:sp>
        <p:nvSpPr>
          <p:cNvPr id="155" name="TextBox 4"/>
          <p:cNvSpPr txBox="1"/>
          <p:nvPr/>
        </p:nvSpPr>
        <p:spPr>
          <a:xfrm>
            <a:off x="548640" y="3429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7FE9DC"/>
                </a:solidFill>
                <a:latin typeface="Microsoft YaHei"/>
                <a:ea typeface="Microsoft YaHei"/>
                <a:cs typeface="Microsoft YaHei"/>
              </a:rPr>
              <a:t>CONTENTS</a:t>
            </a:r>
            <a:endParaRPr/>
          </a:p>
        </p:txBody>
      </p:sp>
      <p:sp>
        <p:nvSpPr>
          <p:cNvPr id="156" name="Rectangle 5"/>
          <p:cNvSpPr/>
          <p:nvPr/>
        </p:nvSpPr>
        <p:spPr>
          <a:xfrm>
            <a:off x="548640" y="3794760"/>
            <a:ext cx="914400" cy="54864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6"/>
          <p:cNvSpPr txBox="1"/>
          <p:nvPr/>
        </p:nvSpPr>
        <p:spPr>
          <a:xfrm>
            <a:off x="548640" y="411480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FE9E4"/>
                </a:solidFill>
                <a:latin typeface="Microsoft YaHei"/>
                <a:ea typeface="Microsoft YaHei"/>
                <a:cs typeface="Microsoft YaHei"/>
              </a:rPr>
              <a:t>从痛点认知到平台能力，</a:t>
            </a:r>
            <a:endParaRPr/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CFE9E4"/>
                </a:solidFill>
                <a:latin typeface="Microsoft YaHei"/>
                <a:ea typeface="Microsoft YaHei"/>
                <a:cs typeface="Microsoft YaHei"/>
              </a:rPr>
              <a:t>从应用场景到价值行动</a:t>
            </a:r>
            <a:endParaRPr/>
          </a:p>
        </p:txBody>
      </p:sp>
      <p:sp>
        <p:nvSpPr>
          <p:cNvPr id="158" name="Rectangle 7"/>
          <p:cNvSpPr/>
          <p:nvPr/>
        </p:nvSpPr>
        <p:spPr>
          <a:xfrm>
            <a:off x="4480560" y="960120"/>
            <a:ext cx="7223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8"/>
          <p:cNvSpPr txBox="1"/>
          <p:nvPr/>
        </p:nvSpPr>
        <p:spPr>
          <a:xfrm>
            <a:off x="4709160" y="1124712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22B8A6"/>
                </a:solidFill>
                <a:latin typeface="Consolas"/>
                <a:ea typeface="Consolas"/>
                <a:cs typeface="Consolas"/>
              </a:rPr>
              <a:t>01</a:t>
            </a:r>
            <a:endParaRPr/>
          </a:p>
        </p:txBody>
      </p:sp>
      <p:sp>
        <p:nvSpPr>
          <p:cNvPr id="160" name="TextBox 9"/>
          <p:cNvSpPr txBox="1"/>
          <p:nvPr/>
        </p:nvSpPr>
        <p:spPr>
          <a:xfrm>
            <a:off x="6035040" y="116128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为什么需要 LATTICE</a:t>
            </a:r>
            <a:endParaRPr/>
          </a:p>
        </p:txBody>
      </p:sp>
      <p:sp>
        <p:nvSpPr>
          <p:cNvPr id="161" name="TextBox 10"/>
          <p:cNvSpPr txBox="1"/>
          <p:nvPr/>
        </p:nvSpPr>
        <p:spPr>
          <a:xfrm>
            <a:off x="6035040" y="161848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科研的现实痛点与高昂代价</a:t>
            </a:r>
            <a:endParaRPr/>
          </a:p>
        </p:txBody>
      </p:sp>
      <p:sp>
        <p:nvSpPr>
          <p:cNvPr id="162" name="Rectangle 11"/>
          <p:cNvSpPr/>
          <p:nvPr/>
        </p:nvSpPr>
        <p:spPr>
          <a:xfrm>
            <a:off x="4480560" y="2167128"/>
            <a:ext cx="7223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2"/>
          <p:cNvSpPr txBox="1"/>
          <p:nvPr/>
        </p:nvSpPr>
        <p:spPr>
          <a:xfrm>
            <a:off x="4709160" y="2331720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22B8A6"/>
                </a:solidFill>
                <a:latin typeface="Consolas"/>
                <a:ea typeface="Consolas"/>
                <a:cs typeface="Consolas"/>
              </a:rPr>
              <a:t>02</a:t>
            </a:r>
            <a:endParaRPr/>
          </a:p>
        </p:txBody>
      </p:sp>
      <p:sp>
        <p:nvSpPr>
          <p:cNvPr id="164" name="TextBox 13"/>
          <p:cNvSpPr txBox="1"/>
          <p:nvPr/>
        </p:nvSpPr>
        <p:spPr>
          <a:xfrm>
            <a:off x="6035040" y="2368296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平台与核心能力</a:t>
            </a:r>
            <a:endParaRPr/>
          </a:p>
        </p:txBody>
      </p:sp>
      <p:sp>
        <p:nvSpPr>
          <p:cNvPr id="165" name="TextBox 14"/>
          <p:cNvSpPr txBox="1"/>
          <p:nvPr/>
        </p:nvSpPr>
        <p:spPr>
          <a:xfrm>
            <a:off x="6035040" y="2825496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十环节流水线 · 智能抽取 · 3D 绘图</a:t>
            </a:r>
            <a:endParaRPr/>
          </a:p>
        </p:txBody>
      </p:sp>
      <p:sp>
        <p:nvSpPr>
          <p:cNvPr id="166" name="Rectangle 15"/>
          <p:cNvSpPr/>
          <p:nvPr/>
        </p:nvSpPr>
        <p:spPr>
          <a:xfrm>
            <a:off x="4480560" y="3374136"/>
            <a:ext cx="7223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"/>
          <p:cNvSpPr txBox="1"/>
          <p:nvPr/>
        </p:nvSpPr>
        <p:spPr>
          <a:xfrm>
            <a:off x="4709160" y="3538728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22B8A6"/>
                </a:solidFill>
                <a:latin typeface="Consolas"/>
                <a:ea typeface="Consolas"/>
                <a:cs typeface="Consolas"/>
              </a:rPr>
              <a:t>03</a:t>
            </a:r>
            <a:endParaRPr/>
          </a:p>
        </p:txBody>
      </p:sp>
      <p:sp>
        <p:nvSpPr>
          <p:cNvPr id="168" name="TextBox 17"/>
          <p:cNvSpPr txBox="1"/>
          <p:nvPr/>
        </p:nvSpPr>
        <p:spPr>
          <a:xfrm>
            <a:off x="6035040" y="357530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三大应用场景</a:t>
            </a:r>
            <a:endParaRPr/>
          </a:p>
        </p:txBody>
      </p:sp>
      <p:sp>
        <p:nvSpPr>
          <p:cNvPr id="169" name="TextBox 18"/>
          <p:cNvSpPr txBox="1"/>
          <p:nvPr/>
        </p:nvSpPr>
        <p:spPr>
          <a:xfrm>
            <a:off x="6035040" y="403250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高校科研 · 企业研发 · 综述情报</a:t>
            </a:r>
            <a:endParaRPr/>
          </a:p>
        </p:txBody>
      </p:sp>
      <p:sp>
        <p:nvSpPr>
          <p:cNvPr id="170" name="Rectangle 19"/>
          <p:cNvSpPr/>
          <p:nvPr/>
        </p:nvSpPr>
        <p:spPr>
          <a:xfrm>
            <a:off x="4480560" y="4581144"/>
            <a:ext cx="7223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20"/>
          <p:cNvSpPr txBox="1"/>
          <p:nvPr/>
        </p:nvSpPr>
        <p:spPr>
          <a:xfrm>
            <a:off x="4709160" y="4745736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22B8A6"/>
                </a:solidFill>
                <a:latin typeface="Consolas"/>
                <a:ea typeface="Consolas"/>
                <a:cs typeface="Consolas"/>
              </a:rPr>
              <a:t>04</a:t>
            </a:r>
            <a:endParaRPr/>
          </a:p>
        </p:txBody>
      </p:sp>
      <p:sp>
        <p:nvSpPr>
          <p:cNvPr id="172" name="TextBox 21"/>
          <p:cNvSpPr txBox="1"/>
          <p:nvPr/>
        </p:nvSpPr>
        <p:spPr>
          <a:xfrm>
            <a:off x="6035040" y="4782312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价值与行动</a:t>
            </a:r>
            <a:endParaRPr/>
          </a:p>
        </p:txBody>
      </p:sp>
      <p:sp>
        <p:nvSpPr>
          <p:cNvPr id="173" name="TextBox 22"/>
          <p:cNvSpPr txBox="1"/>
          <p:nvPr/>
        </p:nvSpPr>
        <p:spPr>
          <a:xfrm>
            <a:off x="6035040" y="523951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被夸大的价值 · 技术底座 · 为什么选我们</a:t>
            </a:r>
            <a:endParaRPr/>
          </a:p>
        </p:txBody>
      </p:sp>
      <p:sp>
        <p:nvSpPr>
          <p:cNvPr id="174" name="TextBox 23"/>
          <p:cNvSpPr txBox="1"/>
          <p:nvPr/>
        </p:nvSpPr>
        <p:spPr>
          <a:xfrm>
            <a:off x="548640" y="630936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LATTICE · 材料学科科研自动化平台</a:t>
            </a:r>
            <a:endParaRPr/>
          </a:p>
        </p:txBody>
      </p:sp>
      <p:sp>
        <p:nvSpPr>
          <p:cNvPr id="175" name="TextBox 24"/>
          <p:cNvSpPr txBox="1"/>
          <p:nvPr/>
        </p:nvSpPr>
        <p:spPr>
          <a:xfrm>
            <a:off x="10972800" y="63093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02 / 14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2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3"/>
          <p:cNvSpPr txBox="1"/>
          <p:nvPr/>
        </p:nvSpPr>
        <p:spPr>
          <a:xfrm>
            <a:off x="777240" y="4114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科研的现实：效率与信任的双重困境</a:t>
            </a:r>
            <a:endParaRPr/>
          </a:p>
        </p:txBody>
      </p:sp>
      <p:sp>
        <p:nvSpPr>
          <p:cNvPr id="180" name="Rectangle 4"/>
          <p:cNvSpPr/>
          <p:nvPr/>
        </p:nvSpPr>
        <p:spPr>
          <a:xfrm>
            <a:off x="548640" y="1417320"/>
            <a:ext cx="7040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5"/>
          <p:cNvSpPr/>
          <p:nvPr/>
        </p:nvSpPr>
        <p:spPr>
          <a:xfrm>
            <a:off x="777240" y="1673352"/>
            <a:ext cx="548640" cy="54864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6"/>
          <p:cNvSpPr txBox="1"/>
          <p:nvPr/>
        </p:nvSpPr>
        <p:spPr>
          <a:xfrm>
            <a:off x="841248" y="17282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0">
                <a:solidFill>
                  <a:srgbClr val="22B8A6"/>
                </a:solidFill>
                <a:latin typeface="Microsoft YaHei"/>
                <a:ea typeface="Microsoft YaHei"/>
                <a:cs typeface="Microsoft YaHei"/>
              </a:rPr>
              <a:t>●</a:t>
            </a:r>
            <a:endParaRPr/>
          </a:p>
        </p:txBody>
      </p:sp>
      <p:sp>
        <p:nvSpPr>
          <p:cNvPr id="183" name="TextBox 7"/>
          <p:cNvSpPr txBox="1"/>
          <p:nvPr/>
        </p:nvSpPr>
        <p:spPr>
          <a:xfrm>
            <a:off x="1554480" y="1563624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周期漫长</a:t>
            </a:r>
            <a:endParaRPr/>
          </a:p>
        </p:txBody>
      </p:sp>
      <p:sp>
        <p:nvSpPr>
          <p:cNvPr id="184" name="TextBox 8"/>
          <p:cNvSpPr txBox="1"/>
          <p:nvPr/>
        </p:nvSpPr>
        <p:spPr>
          <a:xfrm>
            <a:off x="1554480" y="1947672"/>
            <a:ext cx="5852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一篇材料论文从"读文献"到"成文投稿"动辄数月，灵感在等待中冷却</a:t>
            </a:r>
            <a:endParaRPr/>
          </a:p>
        </p:txBody>
      </p:sp>
      <p:sp>
        <p:nvSpPr>
          <p:cNvPr id="185" name="Rectangle 9"/>
          <p:cNvSpPr/>
          <p:nvPr/>
        </p:nvSpPr>
        <p:spPr>
          <a:xfrm>
            <a:off x="548640" y="2468880"/>
            <a:ext cx="7040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0"/>
          <p:cNvSpPr/>
          <p:nvPr/>
        </p:nvSpPr>
        <p:spPr>
          <a:xfrm>
            <a:off x="777240" y="2724912"/>
            <a:ext cx="548640" cy="54864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1"/>
          <p:cNvSpPr txBox="1"/>
          <p:nvPr/>
        </p:nvSpPr>
        <p:spPr>
          <a:xfrm>
            <a:off x="841248" y="27797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0">
                <a:solidFill>
                  <a:srgbClr val="22B8A6"/>
                </a:solidFill>
                <a:latin typeface="Microsoft YaHei"/>
                <a:ea typeface="Microsoft YaHei"/>
                <a:cs typeface="Microsoft YaHei"/>
              </a:rPr>
              <a:t>●</a:t>
            </a:r>
            <a:endParaRPr/>
          </a:p>
        </p:txBody>
      </p:sp>
      <p:sp>
        <p:nvSpPr>
          <p:cNvPr id="188" name="TextBox 12"/>
          <p:cNvSpPr txBox="1"/>
          <p:nvPr/>
        </p:nvSpPr>
        <p:spPr>
          <a:xfrm>
            <a:off x="1554480" y="2615184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重复劳动</a:t>
            </a:r>
            <a:endParaRPr/>
          </a:p>
        </p:txBody>
      </p:sp>
      <p:sp>
        <p:nvSpPr>
          <p:cNvPr id="189" name="TextBox 13"/>
          <p:cNvSpPr txBox="1"/>
          <p:nvPr/>
        </p:nvSpPr>
        <p:spPr>
          <a:xfrm>
            <a:off x="1554480" y="2999232"/>
            <a:ext cx="5852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手工抄录数据、重画 XRD/SEM 图表、逐条排版参考文献，枯燥且易错</a:t>
            </a:r>
            <a:endParaRPr/>
          </a:p>
        </p:txBody>
      </p:sp>
      <p:sp>
        <p:nvSpPr>
          <p:cNvPr id="190" name="Rectangle 14"/>
          <p:cNvSpPr/>
          <p:nvPr/>
        </p:nvSpPr>
        <p:spPr>
          <a:xfrm>
            <a:off x="548640" y="3520440"/>
            <a:ext cx="7040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5"/>
          <p:cNvSpPr/>
          <p:nvPr/>
        </p:nvSpPr>
        <p:spPr>
          <a:xfrm>
            <a:off x="777240" y="3776472"/>
            <a:ext cx="548640" cy="54864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6"/>
          <p:cNvSpPr txBox="1"/>
          <p:nvPr/>
        </p:nvSpPr>
        <p:spPr>
          <a:xfrm>
            <a:off x="841248" y="38313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0">
                <a:solidFill>
                  <a:srgbClr val="22B8A6"/>
                </a:solidFill>
                <a:latin typeface="Microsoft YaHei"/>
                <a:ea typeface="Microsoft YaHei"/>
                <a:cs typeface="Microsoft YaHei"/>
              </a:rPr>
              <a:t>●</a:t>
            </a:r>
            <a:endParaRPr/>
          </a:p>
        </p:txBody>
      </p:sp>
      <p:sp>
        <p:nvSpPr>
          <p:cNvPr id="193" name="TextBox 17"/>
          <p:cNvSpPr txBox="1"/>
          <p:nvPr/>
        </p:nvSpPr>
        <p:spPr>
          <a:xfrm>
            <a:off x="1554480" y="3666744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信任风险</a:t>
            </a:r>
            <a:endParaRPr/>
          </a:p>
        </p:txBody>
      </p:sp>
      <p:sp>
        <p:nvSpPr>
          <p:cNvPr id="194" name="TextBox 18"/>
          <p:cNvSpPr txBox="1"/>
          <p:nvPr/>
        </p:nvSpPr>
        <p:spPr>
          <a:xfrm>
            <a:off x="1554480" y="4050791"/>
            <a:ext cx="5852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为填补数据缺口而"凭空补数"，埋下学术不端的隐形隐患</a:t>
            </a:r>
            <a:endParaRPr/>
          </a:p>
        </p:txBody>
      </p:sp>
      <p:sp>
        <p:nvSpPr>
          <p:cNvPr id="195" name="Rectangle 19"/>
          <p:cNvSpPr/>
          <p:nvPr/>
        </p:nvSpPr>
        <p:spPr>
          <a:xfrm>
            <a:off x="548640" y="4572000"/>
            <a:ext cx="7040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20"/>
          <p:cNvSpPr/>
          <p:nvPr/>
        </p:nvSpPr>
        <p:spPr>
          <a:xfrm>
            <a:off x="777240" y="4828032"/>
            <a:ext cx="548640" cy="54864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21"/>
          <p:cNvSpPr txBox="1"/>
          <p:nvPr/>
        </p:nvSpPr>
        <p:spPr>
          <a:xfrm>
            <a:off x="841248" y="48828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0">
                <a:solidFill>
                  <a:srgbClr val="22B8A6"/>
                </a:solidFill>
                <a:latin typeface="Microsoft YaHei"/>
                <a:ea typeface="Microsoft YaHei"/>
                <a:cs typeface="Microsoft YaHei"/>
              </a:rPr>
              <a:t>●</a:t>
            </a:r>
            <a:endParaRPr/>
          </a:p>
        </p:txBody>
      </p:sp>
      <p:sp>
        <p:nvSpPr>
          <p:cNvPr id="198" name="TextBox 22"/>
          <p:cNvSpPr txBox="1"/>
          <p:nvPr/>
        </p:nvSpPr>
        <p:spPr>
          <a:xfrm>
            <a:off x="1554480" y="4718304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门槛高企</a:t>
            </a:r>
            <a:endParaRPr/>
          </a:p>
        </p:txBody>
      </p:sp>
      <p:sp>
        <p:nvSpPr>
          <p:cNvPr id="199" name="TextBox 23"/>
          <p:cNvSpPr txBox="1"/>
          <p:nvPr/>
        </p:nvSpPr>
        <p:spPr>
          <a:xfrm>
            <a:off x="1554480" y="5102352"/>
            <a:ext cx="5852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配服务器、搭环境、联网传数据——部署本身就把多数人劝退</a:t>
            </a:r>
            <a:endParaRPr/>
          </a:p>
        </p:txBody>
      </p:sp>
      <p:sp>
        <p:nvSpPr>
          <p:cNvPr id="200" name="Rectangle 24"/>
          <p:cNvSpPr/>
          <p:nvPr/>
        </p:nvSpPr>
        <p:spPr>
          <a:xfrm>
            <a:off x="7955279" y="1417320"/>
            <a:ext cx="3657600" cy="4572000"/>
          </a:xfrm>
          <a:prstGeom prst="rect">
            <a:avLst/>
          </a:prstGeom>
          <a:solidFill>
            <a:srgbClr val="0E3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5"/>
          <p:cNvSpPr txBox="1"/>
          <p:nvPr/>
        </p:nvSpPr>
        <p:spPr>
          <a:xfrm>
            <a:off x="8229600" y="17373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7FE9DC"/>
                </a:solidFill>
                <a:latin typeface="Microsoft YaHei"/>
                <a:ea typeface="Microsoft YaHei"/>
                <a:cs typeface="Microsoft YaHei"/>
              </a:rPr>
              <a:t>代价</a:t>
            </a:r>
            <a:endParaRPr/>
          </a:p>
        </p:txBody>
      </p:sp>
      <p:sp>
        <p:nvSpPr>
          <p:cNvPr id="202" name="Rectangle 26"/>
          <p:cNvSpPr/>
          <p:nvPr/>
        </p:nvSpPr>
        <p:spPr>
          <a:xfrm>
            <a:off x="8229600" y="2468880"/>
            <a:ext cx="54864" cy="77724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7"/>
          <p:cNvSpPr txBox="1"/>
          <p:nvPr/>
        </p:nvSpPr>
        <p:spPr>
          <a:xfrm>
            <a:off x="8412480" y="2450592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3–6 月</a:t>
            </a:r>
            <a:endParaRPr/>
          </a:p>
        </p:txBody>
      </p:sp>
      <p:sp>
        <p:nvSpPr>
          <p:cNvPr id="204" name="TextBox 28"/>
          <p:cNvSpPr txBox="1"/>
          <p:nvPr/>
        </p:nvSpPr>
        <p:spPr>
          <a:xfrm>
            <a:off x="8412480" y="3017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7FE9DC"/>
                </a:solidFill>
                <a:latin typeface="Microsoft YaHei"/>
                <a:ea typeface="Microsoft YaHei"/>
                <a:cs typeface="Microsoft YaHei"/>
              </a:rPr>
              <a:t>平均成果产出周期</a:t>
            </a:r>
            <a:endParaRPr/>
          </a:p>
        </p:txBody>
      </p:sp>
      <p:sp>
        <p:nvSpPr>
          <p:cNvPr id="205" name="Rectangle 29"/>
          <p:cNvSpPr/>
          <p:nvPr/>
        </p:nvSpPr>
        <p:spPr>
          <a:xfrm>
            <a:off x="8229600" y="3749039"/>
            <a:ext cx="54864" cy="77724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30"/>
          <p:cNvSpPr txBox="1"/>
          <p:nvPr/>
        </p:nvSpPr>
        <p:spPr>
          <a:xfrm>
            <a:off x="8412480" y="3730752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60%+</a:t>
            </a:r>
            <a:endParaRPr/>
          </a:p>
        </p:txBody>
      </p:sp>
      <p:sp>
        <p:nvSpPr>
          <p:cNvPr id="207" name="TextBox 31"/>
          <p:cNvSpPr txBox="1"/>
          <p:nvPr/>
        </p:nvSpPr>
        <p:spPr>
          <a:xfrm>
            <a:off x="8412480" y="4297679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7FE9DC"/>
                </a:solidFill>
                <a:latin typeface="Microsoft YaHei"/>
                <a:ea typeface="Microsoft YaHei"/>
                <a:cs typeface="Microsoft YaHei"/>
              </a:rPr>
              <a:t>科研时间耗在重复劳动</a:t>
            </a:r>
            <a:endParaRPr/>
          </a:p>
        </p:txBody>
      </p:sp>
      <p:sp>
        <p:nvSpPr>
          <p:cNvPr id="208" name="Rectangle 32"/>
          <p:cNvSpPr/>
          <p:nvPr/>
        </p:nvSpPr>
        <p:spPr>
          <a:xfrm>
            <a:off x="8229600" y="5029200"/>
            <a:ext cx="54864" cy="77724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33"/>
          <p:cNvSpPr txBox="1"/>
          <p:nvPr/>
        </p:nvSpPr>
        <p:spPr>
          <a:xfrm>
            <a:off x="8412480" y="5010912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不可控</a:t>
            </a:r>
            <a:endParaRPr/>
          </a:p>
        </p:txBody>
      </p:sp>
      <p:sp>
        <p:nvSpPr>
          <p:cNvPr id="210" name="TextBox 34"/>
          <p:cNvSpPr txBox="1"/>
          <p:nvPr/>
        </p:nvSpPr>
        <p:spPr>
          <a:xfrm>
            <a:off x="8412480" y="55778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7FE9DC"/>
                </a:solidFill>
                <a:latin typeface="Microsoft YaHei"/>
                <a:ea typeface="Microsoft YaHei"/>
                <a:cs typeface="Microsoft YaHei"/>
              </a:rPr>
              <a:t>数据外泄与发表不确定性</a:t>
            </a:r>
            <a:endParaRPr/>
          </a:p>
        </p:txBody>
      </p:sp>
      <p:sp>
        <p:nvSpPr>
          <p:cNvPr id="211" name="TextBox 35"/>
          <p:cNvSpPr txBox="1"/>
          <p:nvPr/>
        </p:nvSpPr>
        <p:spPr>
          <a:xfrm>
            <a:off x="548640" y="630936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LATTICE · 材料学科科研自动化平台</a:t>
            </a:r>
            <a:endParaRPr/>
          </a:p>
        </p:txBody>
      </p:sp>
      <p:sp>
        <p:nvSpPr>
          <p:cNvPr id="212" name="TextBox 36"/>
          <p:cNvSpPr txBox="1"/>
          <p:nvPr/>
        </p:nvSpPr>
        <p:spPr>
          <a:xfrm>
            <a:off x="10972800" y="63093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03 / 14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22B8A6"/>
                </a:solidFill>
                <a:latin typeface="Microsoft YaHei"/>
                <a:ea typeface="Microsoft YaHei"/>
                <a:cs typeface="Microsoft YaHei"/>
              </a:rPr>
              <a:t>平台总览 · OVERVIEW</a:t>
            </a:r>
            <a:endParaRPr/>
          </a:p>
        </p:txBody>
      </p:sp>
      <p:sp>
        <p:nvSpPr>
          <p:cNvPr id="216" name="TextBox 3"/>
          <p:cNvSpPr txBox="1"/>
          <p:nvPr/>
        </p:nvSpPr>
        <p:spPr>
          <a:xfrm>
            <a:off x="548640" y="10515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一个平台，覆盖材料科研的全链路</a:t>
            </a:r>
            <a:endParaRPr/>
          </a:p>
        </p:txBody>
      </p:sp>
      <p:sp>
        <p:nvSpPr>
          <p:cNvPr id="217" name="Rectangle 4"/>
          <p:cNvSpPr/>
          <p:nvPr/>
        </p:nvSpPr>
        <p:spPr>
          <a:xfrm>
            <a:off x="594360" y="1965960"/>
            <a:ext cx="1097280" cy="54864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5"/>
          <p:cNvSpPr txBox="1"/>
          <p:nvPr/>
        </p:nvSpPr>
        <p:spPr>
          <a:xfrm>
            <a:off x="548640" y="224028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400" b="1">
                <a:solidFill>
                  <a:srgbClr val="22B8A6"/>
                </a:solidFill>
                <a:latin typeface="Consolas"/>
                <a:ea typeface="Consolas"/>
                <a:cs typeface="Consolas"/>
              </a:rPr>
              <a:t>10</a:t>
            </a:r>
            <a:endParaRPr/>
          </a:p>
        </p:txBody>
      </p:sp>
      <p:sp>
        <p:nvSpPr>
          <p:cNvPr id="219" name="TextBox 6"/>
          <p:cNvSpPr txBox="1"/>
          <p:nvPr/>
        </p:nvSpPr>
        <p:spPr>
          <a:xfrm>
            <a:off x="548640" y="310896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十环节科研流水线</a:t>
            </a:r>
            <a:endParaRPr/>
          </a:p>
        </p:txBody>
      </p:sp>
      <p:sp>
        <p:nvSpPr>
          <p:cNvPr id="220" name="TextBox 7"/>
          <p:cNvSpPr txBox="1"/>
          <p:nvPr/>
        </p:nvSpPr>
        <p:spPr>
          <a:xfrm>
            <a:off x="2788920" y="224028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400" b="1">
                <a:solidFill>
                  <a:srgbClr val="22B8A6"/>
                </a:solidFill>
                <a:latin typeface="Consolas"/>
                <a:ea typeface="Consolas"/>
                <a:cs typeface="Consolas"/>
              </a:rPr>
              <a:t>10</a:t>
            </a:r>
            <a:endParaRPr/>
          </a:p>
        </p:txBody>
      </p:sp>
      <p:sp>
        <p:nvSpPr>
          <p:cNvPr id="221" name="TextBox 8"/>
          <p:cNvSpPr txBox="1"/>
          <p:nvPr/>
        </p:nvSpPr>
        <p:spPr>
          <a:xfrm>
            <a:off x="2788920" y="310896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覆盖材料大方向</a:t>
            </a:r>
            <a:endParaRPr/>
          </a:p>
        </p:txBody>
      </p:sp>
      <p:sp>
        <p:nvSpPr>
          <p:cNvPr id="222" name="TextBox 9"/>
          <p:cNvSpPr txBox="1"/>
          <p:nvPr/>
        </p:nvSpPr>
        <p:spPr>
          <a:xfrm>
            <a:off x="548640" y="388620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400" b="1">
                <a:solidFill>
                  <a:srgbClr val="22B8A6"/>
                </a:solidFill>
                <a:latin typeface="Consolas"/>
                <a:ea typeface="Consolas"/>
                <a:cs typeface="Consolas"/>
              </a:rPr>
              <a:t>250+</a:t>
            </a:r>
            <a:endParaRPr/>
          </a:p>
        </p:txBody>
      </p:sp>
      <p:sp>
        <p:nvSpPr>
          <p:cNvPr id="223" name="TextBox 10"/>
          <p:cNvSpPr txBox="1"/>
          <p:nvPr/>
        </p:nvSpPr>
        <p:spPr>
          <a:xfrm>
            <a:off x="548640" y="47548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中英双语指标词表</a:t>
            </a:r>
            <a:endParaRPr/>
          </a:p>
        </p:txBody>
      </p:sp>
      <p:sp>
        <p:nvSpPr>
          <p:cNvPr id="224" name="TextBox 11"/>
          <p:cNvSpPr txBox="1"/>
          <p:nvPr/>
        </p:nvSpPr>
        <p:spPr>
          <a:xfrm>
            <a:off x="2788920" y="388620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400" b="1">
                <a:solidFill>
                  <a:srgbClr val="22B8A6"/>
                </a:solidFill>
                <a:latin typeface="Consolas"/>
                <a:ea typeface="Consolas"/>
                <a:cs typeface="Consolas"/>
              </a:rPr>
              <a:t>0</a:t>
            </a:r>
            <a:endParaRPr/>
          </a:p>
        </p:txBody>
      </p:sp>
      <p:sp>
        <p:nvSpPr>
          <p:cNvPr id="225" name="TextBox 12"/>
          <p:cNvSpPr txBox="1"/>
          <p:nvPr/>
        </p:nvSpPr>
        <p:spPr>
          <a:xfrm>
            <a:off x="2788920" y="47548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第三方运行时依赖</a:t>
            </a:r>
            <a:endParaRPr/>
          </a:p>
        </p:txBody>
      </p:sp>
      <p:sp>
        <p:nvSpPr>
          <p:cNvPr id="226" name="Rectangle 13"/>
          <p:cNvSpPr/>
          <p:nvPr/>
        </p:nvSpPr>
        <p:spPr>
          <a:xfrm>
            <a:off x="5577840" y="2011680"/>
            <a:ext cx="6035040" cy="3886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5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14"/>
          <p:cNvSpPr/>
          <p:nvPr/>
        </p:nvSpPr>
        <p:spPr>
          <a:xfrm>
            <a:off x="5577840" y="2011680"/>
            <a:ext cx="6035040" cy="310896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15"/>
          <p:cNvSpPr/>
          <p:nvPr/>
        </p:nvSpPr>
        <p:spPr>
          <a:xfrm>
            <a:off x="5705855" y="2116836"/>
            <a:ext cx="100584" cy="100584"/>
          </a:xfrm>
          <a:prstGeom prst="ellipse">
            <a:avLst/>
          </a:prstGeom>
          <a:solidFill>
            <a:srgbClr val="E36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16"/>
          <p:cNvSpPr/>
          <p:nvPr/>
        </p:nvSpPr>
        <p:spPr>
          <a:xfrm>
            <a:off x="5861303" y="2116836"/>
            <a:ext cx="100584" cy="100584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17"/>
          <p:cNvSpPr/>
          <p:nvPr/>
        </p:nvSpPr>
        <p:spPr>
          <a:xfrm>
            <a:off x="6016751" y="2116836"/>
            <a:ext cx="100584" cy="100584"/>
          </a:xfrm>
          <a:prstGeom prst="ellipse">
            <a:avLst/>
          </a:prstGeom>
          <a:solidFill>
            <a:srgbClr val="5C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18"/>
          <p:cNvSpPr txBox="1"/>
          <p:nvPr/>
        </p:nvSpPr>
        <p:spPr>
          <a:xfrm>
            <a:off x="6263640" y="2048256"/>
            <a:ext cx="521207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LATTICE · 平台总览实拍</a:t>
            </a:r>
            <a:endParaRPr/>
          </a:p>
        </p:txBody>
      </p:sp>
      <p:pic>
        <p:nvPicPr>
          <p:cNvPr id="232" name="Picture 19" descr="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7529" y="2386584"/>
            <a:ext cx="5515660" cy="3447288"/>
          </a:xfrm>
          <a:prstGeom prst="rect">
            <a:avLst/>
          </a:prstGeom>
        </p:spPr>
      </p:pic>
      <p:sp>
        <p:nvSpPr>
          <p:cNvPr id="233" name="TextBox 20"/>
          <p:cNvSpPr txBox="1"/>
          <p:nvPr/>
        </p:nvSpPr>
        <p:spPr>
          <a:xfrm>
            <a:off x="548640" y="5577840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纯静态、零构建、零依赖——</a:t>
            </a:r>
            <a:endParaRPr/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双击 index.html 即跑。</a:t>
            </a:r>
            <a:endParaRPr/>
          </a:p>
        </p:txBody>
      </p:sp>
      <p:sp>
        <p:nvSpPr>
          <p:cNvPr id="234" name="TextBox 21"/>
          <p:cNvSpPr txBox="1"/>
          <p:nvPr/>
        </p:nvSpPr>
        <p:spPr>
          <a:xfrm>
            <a:off x="548640" y="630936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LATTICE · 材料学科科研自动化平台</a:t>
            </a:r>
            <a:endParaRPr/>
          </a:p>
        </p:txBody>
      </p:sp>
      <p:sp>
        <p:nvSpPr>
          <p:cNvPr id="235" name="TextBox 22"/>
          <p:cNvSpPr txBox="1"/>
          <p:nvPr/>
        </p:nvSpPr>
        <p:spPr>
          <a:xfrm>
            <a:off x="10972800" y="63093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04 / 14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Rectangle 2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3"/>
          <p:cNvSpPr txBox="1"/>
          <p:nvPr/>
        </p:nvSpPr>
        <p:spPr>
          <a:xfrm>
            <a:off x="777240" y="4114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十环节科研流水线</a:t>
            </a:r>
            <a:endParaRPr/>
          </a:p>
        </p:txBody>
      </p:sp>
      <p:sp>
        <p:nvSpPr>
          <p:cNvPr id="240" name="TextBox 4"/>
          <p:cNvSpPr txBox="1"/>
          <p:nvPr/>
        </p:nvSpPr>
        <p:spPr>
          <a:xfrm>
            <a:off x="777240" y="102412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从一篇文献到一篇可投稿成果，全链路自动贯通</a:t>
            </a:r>
            <a:endParaRPr/>
          </a:p>
        </p:txBody>
      </p:sp>
      <p:sp>
        <p:nvSpPr>
          <p:cNvPr id="241" name="Oval 5"/>
          <p:cNvSpPr/>
          <p:nvPr/>
        </p:nvSpPr>
        <p:spPr>
          <a:xfrm>
            <a:off x="475488" y="1435608"/>
            <a:ext cx="512064" cy="512064"/>
          </a:xfrm>
          <a:prstGeom prst="ellipse">
            <a:avLst/>
          </a:prstGeom>
          <a:solidFill>
            <a:srgbClr val="0E3B39"/>
          </a:solidFill>
          <a:ln w="25400">
            <a:solidFill>
              <a:srgbClr val="22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6"/>
          <p:cNvSpPr txBox="1"/>
          <p:nvPr/>
        </p:nvSpPr>
        <p:spPr>
          <a:xfrm>
            <a:off x="475488" y="1472184"/>
            <a:ext cx="5120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  <a:endParaRPr/>
          </a:p>
        </p:txBody>
      </p:sp>
      <p:sp>
        <p:nvSpPr>
          <p:cNvPr id="243" name="TextBox 7"/>
          <p:cNvSpPr txBox="1"/>
          <p:nvPr/>
        </p:nvSpPr>
        <p:spPr>
          <a:xfrm>
            <a:off x="228600" y="2002536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导入解析</a:t>
            </a:r>
            <a:endParaRPr/>
          </a:p>
        </p:txBody>
      </p:sp>
      <p:sp>
        <p:nvSpPr>
          <p:cNvPr id="244" name="TextBox 8"/>
          <p:cNvSpPr txBox="1"/>
          <p:nvPr/>
        </p:nvSpPr>
        <p:spPr>
          <a:xfrm>
            <a:off x="228600" y="229514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/>
          </a:p>
        </p:txBody>
      </p:sp>
      <p:sp>
        <p:nvSpPr>
          <p:cNvPr id="245" name="Oval 9"/>
          <p:cNvSpPr/>
          <p:nvPr/>
        </p:nvSpPr>
        <p:spPr>
          <a:xfrm>
            <a:off x="1613407" y="1435608"/>
            <a:ext cx="512064" cy="512064"/>
          </a:xfrm>
          <a:prstGeom prst="ellipse">
            <a:avLst/>
          </a:prstGeom>
          <a:solidFill>
            <a:srgbClr val="0E3B39"/>
          </a:solidFill>
          <a:ln w="25400">
            <a:solidFill>
              <a:srgbClr val="22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10"/>
          <p:cNvSpPr txBox="1"/>
          <p:nvPr/>
        </p:nvSpPr>
        <p:spPr>
          <a:xfrm>
            <a:off x="1613407" y="1472184"/>
            <a:ext cx="5120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  <a:endParaRPr/>
          </a:p>
        </p:txBody>
      </p:sp>
      <p:sp>
        <p:nvSpPr>
          <p:cNvPr id="247" name="TextBox 11"/>
          <p:cNvSpPr txBox="1"/>
          <p:nvPr/>
        </p:nvSpPr>
        <p:spPr>
          <a:xfrm>
            <a:off x="1366519" y="2002536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拓展定位</a:t>
            </a:r>
            <a:endParaRPr/>
          </a:p>
        </p:txBody>
      </p:sp>
      <p:sp>
        <p:nvSpPr>
          <p:cNvPr id="248" name="TextBox 12"/>
          <p:cNvSpPr txBox="1"/>
          <p:nvPr/>
        </p:nvSpPr>
        <p:spPr>
          <a:xfrm>
            <a:off x="1366519" y="229514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/>
          </a:p>
        </p:txBody>
      </p:sp>
      <p:cxnSp>
        <p:nvCxnSpPr>
          <p:cNvPr id="249" name="Connector 13"/>
          <p:cNvCxnSpPr/>
          <p:nvPr/>
        </p:nvCxnSpPr>
        <p:spPr>
          <a:xfrm>
            <a:off x="987552" y="1691640"/>
            <a:ext cx="625855" cy="0"/>
          </a:xfrm>
          <a:prstGeom prst="line">
            <a:avLst/>
          </a:prstGeom>
          <a:ln w="25400">
            <a:solidFill>
              <a:srgbClr val="22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Oval 14"/>
          <p:cNvSpPr/>
          <p:nvPr/>
        </p:nvSpPr>
        <p:spPr>
          <a:xfrm>
            <a:off x="2751327" y="1435608"/>
            <a:ext cx="512064" cy="512064"/>
          </a:xfrm>
          <a:prstGeom prst="ellipse">
            <a:avLst/>
          </a:prstGeom>
          <a:solidFill>
            <a:srgbClr val="0E3B39"/>
          </a:solidFill>
          <a:ln w="25400">
            <a:solidFill>
              <a:srgbClr val="22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15"/>
          <p:cNvSpPr txBox="1"/>
          <p:nvPr/>
        </p:nvSpPr>
        <p:spPr>
          <a:xfrm>
            <a:off x="2751327" y="1472184"/>
            <a:ext cx="5120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  <a:endParaRPr/>
          </a:p>
        </p:txBody>
      </p:sp>
      <p:sp>
        <p:nvSpPr>
          <p:cNvPr id="252" name="TextBox 16"/>
          <p:cNvSpPr txBox="1"/>
          <p:nvPr/>
        </p:nvSpPr>
        <p:spPr>
          <a:xfrm>
            <a:off x="2504440" y="2002536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变量安全</a:t>
            </a:r>
            <a:endParaRPr/>
          </a:p>
        </p:txBody>
      </p:sp>
      <p:sp>
        <p:nvSpPr>
          <p:cNvPr id="253" name="TextBox 17"/>
          <p:cNvSpPr txBox="1"/>
          <p:nvPr/>
        </p:nvSpPr>
        <p:spPr>
          <a:xfrm>
            <a:off x="2504440" y="229514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/>
          </a:p>
        </p:txBody>
      </p:sp>
      <p:cxnSp>
        <p:nvCxnSpPr>
          <p:cNvPr id="254" name="Connector 18"/>
          <p:cNvCxnSpPr/>
          <p:nvPr/>
        </p:nvCxnSpPr>
        <p:spPr>
          <a:xfrm>
            <a:off x="2125472" y="1691640"/>
            <a:ext cx="625855" cy="0"/>
          </a:xfrm>
          <a:prstGeom prst="line">
            <a:avLst/>
          </a:prstGeom>
          <a:ln w="25400">
            <a:solidFill>
              <a:srgbClr val="22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Oval 19"/>
          <p:cNvSpPr/>
          <p:nvPr/>
        </p:nvSpPr>
        <p:spPr>
          <a:xfrm>
            <a:off x="3889247" y="1435608"/>
            <a:ext cx="512064" cy="512064"/>
          </a:xfrm>
          <a:prstGeom prst="ellipse">
            <a:avLst/>
          </a:prstGeom>
          <a:solidFill>
            <a:srgbClr val="0E3B39"/>
          </a:solidFill>
          <a:ln w="25400">
            <a:solidFill>
              <a:srgbClr val="22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0"/>
          <p:cNvSpPr txBox="1"/>
          <p:nvPr/>
        </p:nvSpPr>
        <p:spPr>
          <a:xfrm>
            <a:off x="3889247" y="1472184"/>
            <a:ext cx="5120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  <a:endParaRPr/>
          </a:p>
        </p:txBody>
      </p:sp>
      <p:sp>
        <p:nvSpPr>
          <p:cNvPr id="257" name="TextBox 21"/>
          <p:cNvSpPr txBox="1"/>
          <p:nvPr/>
        </p:nvSpPr>
        <p:spPr>
          <a:xfrm>
            <a:off x="3642360" y="2002536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数据图形</a:t>
            </a:r>
            <a:endParaRPr/>
          </a:p>
        </p:txBody>
      </p:sp>
      <p:sp>
        <p:nvSpPr>
          <p:cNvPr id="258" name="TextBox 22"/>
          <p:cNvSpPr txBox="1"/>
          <p:nvPr/>
        </p:nvSpPr>
        <p:spPr>
          <a:xfrm>
            <a:off x="3642360" y="229514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/>
          </a:p>
        </p:txBody>
      </p:sp>
      <p:cxnSp>
        <p:nvCxnSpPr>
          <p:cNvPr id="259" name="Connector 23"/>
          <p:cNvCxnSpPr/>
          <p:nvPr/>
        </p:nvCxnSpPr>
        <p:spPr>
          <a:xfrm>
            <a:off x="3263392" y="1691640"/>
            <a:ext cx="625855" cy="0"/>
          </a:xfrm>
          <a:prstGeom prst="line">
            <a:avLst/>
          </a:prstGeom>
          <a:ln w="25400">
            <a:solidFill>
              <a:srgbClr val="22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Oval 24"/>
          <p:cNvSpPr/>
          <p:nvPr/>
        </p:nvSpPr>
        <p:spPr>
          <a:xfrm>
            <a:off x="5027168" y="1435608"/>
            <a:ext cx="512064" cy="512064"/>
          </a:xfrm>
          <a:prstGeom prst="ellipse">
            <a:avLst/>
          </a:prstGeom>
          <a:solidFill>
            <a:srgbClr val="0E3B39"/>
          </a:solidFill>
          <a:ln w="25400">
            <a:solidFill>
              <a:srgbClr val="22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5"/>
          <p:cNvSpPr txBox="1"/>
          <p:nvPr/>
        </p:nvSpPr>
        <p:spPr>
          <a:xfrm>
            <a:off x="5027168" y="1472184"/>
            <a:ext cx="5120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  <a:endParaRPr/>
          </a:p>
        </p:txBody>
      </p:sp>
      <p:sp>
        <p:nvSpPr>
          <p:cNvPr id="262" name="TextBox 26"/>
          <p:cNvSpPr txBox="1"/>
          <p:nvPr/>
        </p:nvSpPr>
        <p:spPr>
          <a:xfrm>
            <a:off x="4780280" y="2002536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结果作图</a:t>
            </a:r>
            <a:endParaRPr/>
          </a:p>
        </p:txBody>
      </p:sp>
      <p:sp>
        <p:nvSpPr>
          <p:cNvPr id="263" name="TextBox 27"/>
          <p:cNvSpPr txBox="1"/>
          <p:nvPr/>
        </p:nvSpPr>
        <p:spPr>
          <a:xfrm>
            <a:off x="4780280" y="229514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/>
          </a:p>
        </p:txBody>
      </p:sp>
      <p:cxnSp>
        <p:nvCxnSpPr>
          <p:cNvPr id="264" name="Connector 28"/>
          <p:cNvCxnSpPr/>
          <p:nvPr/>
        </p:nvCxnSpPr>
        <p:spPr>
          <a:xfrm>
            <a:off x="4401312" y="1691640"/>
            <a:ext cx="625856" cy="0"/>
          </a:xfrm>
          <a:prstGeom prst="line">
            <a:avLst/>
          </a:prstGeom>
          <a:ln w="25400">
            <a:solidFill>
              <a:srgbClr val="22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Oval 29"/>
          <p:cNvSpPr/>
          <p:nvPr/>
        </p:nvSpPr>
        <p:spPr>
          <a:xfrm>
            <a:off x="6165088" y="1435608"/>
            <a:ext cx="512064" cy="512064"/>
          </a:xfrm>
          <a:prstGeom prst="ellipse">
            <a:avLst/>
          </a:prstGeom>
          <a:solidFill>
            <a:srgbClr val="0E3B39"/>
          </a:solidFill>
          <a:ln w="25400">
            <a:solidFill>
              <a:srgbClr val="22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30"/>
          <p:cNvSpPr txBox="1"/>
          <p:nvPr/>
        </p:nvSpPr>
        <p:spPr>
          <a:xfrm>
            <a:off x="6165088" y="1472184"/>
            <a:ext cx="5120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6</a:t>
            </a:r>
            <a:endParaRPr/>
          </a:p>
        </p:txBody>
      </p:sp>
      <p:sp>
        <p:nvSpPr>
          <p:cNvPr id="267" name="TextBox 31"/>
          <p:cNvSpPr txBox="1"/>
          <p:nvPr/>
        </p:nvSpPr>
        <p:spPr>
          <a:xfrm>
            <a:off x="5918200" y="2002536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实验指导</a:t>
            </a:r>
            <a:endParaRPr/>
          </a:p>
        </p:txBody>
      </p:sp>
      <p:sp>
        <p:nvSpPr>
          <p:cNvPr id="268" name="TextBox 32"/>
          <p:cNvSpPr txBox="1"/>
          <p:nvPr/>
        </p:nvSpPr>
        <p:spPr>
          <a:xfrm>
            <a:off x="5918200" y="229514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/>
          </a:p>
        </p:txBody>
      </p:sp>
      <p:cxnSp>
        <p:nvCxnSpPr>
          <p:cNvPr id="269" name="Connector 33"/>
          <p:cNvCxnSpPr/>
          <p:nvPr/>
        </p:nvCxnSpPr>
        <p:spPr>
          <a:xfrm>
            <a:off x="5539232" y="1691640"/>
            <a:ext cx="625856" cy="0"/>
          </a:xfrm>
          <a:prstGeom prst="line">
            <a:avLst/>
          </a:prstGeom>
          <a:ln w="25400">
            <a:solidFill>
              <a:srgbClr val="22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Oval 34"/>
          <p:cNvSpPr/>
          <p:nvPr/>
        </p:nvSpPr>
        <p:spPr>
          <a:xfrm>
            <a:off x="7303008" y="1435608"/>
            <a:ext cx="512064" cy="512064"/>
          </a:xfrm>
          <a:prstGeom prst="ellipse">
            <a:avLst/>
          </a:prstGeom>
          <a:solidFill>
            <a:srgbClr val="0E3B39"/>
          </a:solidFill>
          <a:ln w="25400">
            <a:solidFill>
              <a:srgbClr val="22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35"/>
          <p:cNvSpPr txBox="1"/>
          <p:nvPr/>
        </p:nvSpPr>
        <p:spPr>
          <a:xfrm>
            <a:off x="7303008" y="1472184"/>
            <a:ext cx="5120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7</a:t>
            </a:r>
            <a:endParaRPr/>
          </a:p>
        </p:txBody>
      </p:sp>
      <p:sp>
        <p:nvSpPr>
          <p:cNvPr id="272" name="TextBox 36"/>
          <p:cNvSpPr txBox="1"/>
          <p:nvPr/>
        </p:nvSpPr>
        <p:spPr>
          <a:xfrm>
            <a:off x="7056120" y="2002536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数据回填</a:t>
            </a:r>
            <a:endParaRPr/>
          </a:p>
        </p:txBody>
      </p:sp>
      <p:sp>
        <p:nvSpPr>
          <p:cNvPr id="273" name="TextBox 37"/>
          <p:cNvSpPr txBox="1"/>
          <p:nvPr/>
        </p:nvSpPr>
        <p:spPr>
          <a:xfrm>
            <a:off x="7056120" y="229514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/>
          </a:p>
        </p:txBody>
      </p:sp>
      <p:cxnSp>
        <p:nvCxnSpPr>
          <p:cNvPr id="274" name="Connector 38"/>
          <p:cNvCxnSpPr/>
          <p:nvPr/>
        </p:nvCxnSpPr>
        <p:spPr>
          <a:xfrm>
            <a:off x="6677152" y="1691640"/>
            <a:ext cx="625856" cy="0"/>
          </a:xfrm>
          <a:prstGeom prst="line">
            <a:avLst/>
          </a:prstGeom>
          <a:ln w="25400">
            <a:solidFill>
              <a:srgbClr val="22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Oval 39"/>
          <p:cNvSpPr/>
          <p:nvPr/>
        </p:nvSpPr>
        <p:spPr>
          <a:xfrm>
            <a:off x="8440928" y="1435608"/>
            <a:ext cx="512064" cy="512064"/>
          </a:xfrm>
          <a:prstGeom prst="ellipse">
            <a:avLst/>
          </a:prstGeom>
          <a:solidFill>
            <a:srgbClr val="0E3B39"/>
          </a:solidFill>
          <a:ln w="25400">
            <a:solidFill>
              <a:srgbClr val="22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40"/>
          <p:cNvSpPr txBox="1"/>
          <p:nvPr/>
        </p:nvSpPr>
        <p:spPr>
          <a:xfrm>
            <a:off x="8440928" y="1472184"/>
            <a:ext cx="5120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8</a:t>
            </a:r>
            <a:endParaRPr/>
          </a:p>
        </p:txBody>
      </p:sp>
      <p:sp>
        <p:nvSpPr>
          <p:cNvPr id="277" name="TextBox 41"/>
          <p:cNvSpPr txBox="1"/>
          <p:nvPr/>
        </p:nvSpPr>
        <p:spPr>
          <a:xfrm>
            <a:off x="8194040" y="2002536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论文撰写</a:t>
            </a:r>
            <a:endParaRPr/>
          </a:p>
        </p:txBody>
      </p:sp>
      <p:sp>
        <p:nvSpPr>
          <p:cNvPr id="278" name="TextBox 42"/>
          <p:cNvSpPr txBox="1"/>
          <p:nvPr/>
        </p:nvSpPr>
        <p:spPr>
          <a:xfrm>
            <a:off x="8194040" y="229514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/>
          </a:p>
        </p:txBody>
      </p:sp>
      <p:cxnSp>
        <p:nvCxnSpPr>
          <p:cNvPr id="279" name="Connector 43"/>
          <p:cNvCxnSpPr/>
          <p:nvPr/>
        </p:nvCxnSpPr>
        <p:spPr>
          <a:xfrm>
            <a:off x="7815072" y="1691640"/>
            <a:ext cx="625856" cy="0"/>
          </a:xfrm>
          <a:prstGeom prst="line">
            <a:avLst/>
          </a:prstGeom>
          <a:ln w="25400">
            <a:solidFill>
              <a:srgbClr val="22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Oval 44"/>
          <p:cNvSpPr/>
          <p:nvPr/>
        </p:nvSpPr>
        <p:spPr>
          <a:xfrm>
            <a:off x="9578848" y="1435608"/>
            <a:ext cx="512064" cy="512064"/>
          </a:xfrm>
          <a:prstGeom prst="ellipse">
            <a:avLst/>
          </a:prstGeom>
          <a:solidFill>
            <a:srgbClr val="0E3B39"/>
          </a:solidFill>
          <a:ln w="25400">
            <a:solidFill>
              <a:srgbClr val="22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45"/>
          <p:cNvSpPr txBox="1"/>
          <p:nvPr/>
        </p:nvSpPr>
        <p:spPr>
          <a:xfrm>
            <a:off x="9578848" y="1472184"/>
            <a:ext cx="5120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9</a:t>
            </a:r>
            <a:endParaRPr/>
          </a:p>
        </p:txBody>
      </p:sp>
      <p:sp>
        <p:nvSpPr>
          <p:cNvPr id="282" name="TextBox 46"/>
          <p:cNvSpPr txBox="1"/>
          <p:nvPr/>
        </p:nvSpPr>
        <p:spPr>
          <a:xfrm>
            <a:off x="9331960" y="2002536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语言处理</a:t>
            </a:r>
            <a:endParaRPr/>
          </a:p>
        </p:txBody>
      </p:sp>
      <p:sp>
        <p:nvSpPr>
          <p:cNvPr id="283" name="TextBox 47"/>
          <p:cNvSpPr txBox="1"/>
          <p:nvPr/>
        </p:nvSpPr>
        <p:spPr>
          <a:xfrm>
            <a:off x="9331960" y="229514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/>
          </a:p>
        </p:txBody>
      </p:sp>
      <p:cxnSp>
        <p:nvCxnSpPr>
          <p:cNvPr id="284" name="Connector 48"/>
          <p:cNvCxnSpPr/>
          <p:nvPr/>
        </p:nvCxnSpPr>
        <p:spPr>
          <a:xfrm>
            <a:off x="8952992" y="1691640"/>
            <a:ext cx="625856" cy="0"/>
          </a:xfrm>
          <a:prstGeom prst="line">
            <a:avLst/>
          </a:prstGeom>
          <a:ln w="25400">
            <a:solidFill>
              <a:srgbClr val="22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Oval 49"/>
          <p:cNvSpPr/>
          <p:nvPr/>
        </p:nvSpPr>
        <p:spPr>
          <a:xfrm>
            <a:off x="10716768" y="1435608"/>
            <a:ext cx="512064" cy="512064"/>
          </a:xfrm>
          <a:prstGeom prst="ellipse">
            <a:avLst/>
          </a:prstGeom>
          <a:solidFill>
            <a:srgbClr val="0E3B39"/>
          </a:solidFill>
          <a:ln w="25400">
            <a:solidFill>
              <a:srgbClr val="22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50"/>
          <p:cNvSpPr txBox="1"/>
          <p:nvPr/>
        </p:nvSpPr>
        <p:spPr>
          <a:xfrm>
            <a:off x="10716768" y="1472184"/>
            <a:ext cx="5120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10</a:t>
            </a:r>
            <a:endParaRPr/>
          </a:p>
        </p:txBody>
      </p:sp>
      <p:sp>
        <p:nvSpPr>
          <p:cNvPr id="287" name="TextBox 51"/>
          <p:cNvSpPr txBox="1"/>
          <p:nvPr/>
        </p:nvSpPr>
        <p:spPr>
          <a:xfrm>
            <a:off x="10469880" y="2002536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论文评审</a:t>
            </a:r>
            <a:endParaRPr/>
          </a:p>
        </p:txBody>
      </p:sp>
      <p:sp>
        <p:nvSpPr>
          <p:cNvPr id="288" name="TextBox 52"/>
          <p:cNvSpPr txBox="1"/>
          <p:nvPr/>
        </p:nvSpPr>
        <p:spPr>
          <a:xfrm>
            <a:off x="10469880" y="229514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010</a:t>
            </a:r>
            <a:endParaRPr/>
          </a:p>
        </p:txBody>
      </p:sp>
      <p:cxnSp>
        <p:nvCxnSpPr>
          <p:cNvPr id="289" name="Connector 53"/>
          <p:cNvCxnSpPr/>
          <p:nvPr/>
        </p:nvCxnSpPr>
        <p:spPr>
          <a:xfrm>
            <a:off x="10090912" y="1691640"/>
            <a:ext cx="625856" cy="0"/>
          </a:xfrm>
          <a:prstGeom prst="line">
            <a:avLst/>
          </a:prstGeom>
          <a:ln w="25400">
            <a:solidFill>
              <a:srgbClr val="22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54"/>
          <p:cNvCxnSpPr/>
          <p:nvPr/>
        </p:nvCxnSpPr>
        <p:spPr>
          <a:xfrm flipH="1">
            <a:off x="10972800" y="1691640"/>
            <a:ext cx="256032" cy="0"/>
          </a:xfrm>
          <a:prstGeom prst="line">
            <a:avLst/>
          </a:prstGeom>
          <a:ln w="25400">
            <a:solidFill>
              <a:srgbClr val="22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Rectangle 55"/>
          <p:cNvSpPr/>
          <p:nvPr/>
        </p:nvSpPr>
        <p:spPr>
          <a:xfrm rot="0" flipH="0" flipV="0">
            <a:off x="475488" y="2770633"/>
            <a:ext cx="35204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Rectangle 56"/>
          <p:cNvSpPr/>
          <p:nvPr/>
        </p:nvSpPr>
        <p:spPr>
          <a:xfrm rot="0" flipH="0" flipV="0">
            <a:off x="475488" y="2770633"/>
            <a:ext cx="3520440" cy="109728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57"/>
          <p:cNvSpPr txBox="1"/>
          <p:nvPr/>
        </p:nvSpPr>
        <p:spPr>
          <a:xfrm rot="0" flipH="0" flipV="0">
            <a:off x="704088" y="3044952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0E3B39"/>
                </a:solidFill>
                <a:latin typeface="Microsoft YaHei"/>
                <a:ea typeface="Microsoft YaHei"/>
                <a:cs typeface="Microsoft YaHei"/>
              </a:rPr>
              <a:t>导入与解析</a:t>
            </a:r>
            <a:endParaRPr/>
          </a:p>
        </p:txBody>
      </p:sp>
      <p:sp>
        <p:nvSpPr>
          <p:cNvPr id="294" name="TextBox 58"/>
          <p:cNvSpPr txBox="1"/>
          <p:nvPr/>
        </p:nvSpPr>
        <p:spPr>
          <a:xfrm>
            <a:off x="777240" y="484632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文献一键上传，逐项抽取原料、仪器、工艺、变量与指标，每条附原文依据，缺项标「未报告」。</a:t>
            </a:r>
            <a:endParaRPr/>
          </a:p>
        </p:txBody>
      </p:sp>
      <p:sp>
        <p:nvSpPr>
          <p:cNvPr id="295" name="Rectangle 59"/>
          <p:cNvSpPr/>
          <p:nvPr/>
        </p:nvSpPr>
        <p:spPr>
          <a:xfrm rot="0" flipH="0" flipV="0">
            <a:off x="4178807" y="2770633"/>
            <a:ext cx="35204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Rectangle 60"/>
          <p:cNvSpPr/>
          <p:nvPr/>
        </p:nvSpPr>
        <p:spPr>
          <a:xfrm>
            <a:off x="4251959" y="4023360"/>
            <a:ext cx="3520440" cy="109728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61"/>
          <p:cNvSpPr txBox="1"/>
          <p:nvPr/>
        </p:nvSpPr>
        <p:spPr>
          <a:xfrm rot="0" flipH="0" flipV="0">
            <a:off x="4407407" y="3044952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0E3B39"/>
                </a:solidFill>
                <a:latin typeface="Microsoft YaHei"/>
                <a:ea typeface="Microsoft YaHei"/>
                <a:cs typeface="Microsoft YaHei"/>
              </a:rPr>
              <a:t>绘图与配图</a:t>
            </a:r>
            <a:endParaRPr/>
          </a:p>
        </p:txBody>
      </p:sp>
      <p:sp>
        <p:nvSpPr>
          <p:cNvPr id="298" name="TextBox 62"/>
          <p:cNvSpPr txBox="1"/>
          <p:nvPr/>
        </p:nvSpPr>
        <p:spPr>
          <a:xfrm rot="0" flipH="0" flipV="0">
            <a:off x="4407407" y="3593593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论文专属科学图形 + 3D 科研绘图（响应面 / 晶胞 / 界面），内嵌期刊配色与 SCI 配图规范。</a:t>
            </a:r>
            <a:endParaRPr/>
          </a:p>
        </p:txBody>
      </p:sp>
      <p:sp>
        <p:nvSpPr>
          <p:cNvPr id="299" name="Oval 65"/>
          <p:cNvSpPr/>
          <p:nvPr/>
        </p:nvSpPr>
        <p:spPr>
          <a:xfrm>
            <a:off x="8129016" y="4128516"/>
            <a:ext cx="100584" cy="100584"/>
          </a:xfrm>
          <a:prstGeom prst="ellipse">
            <a:avLst/>
          </a:prstGeom>
          <a:solidFill>
            <a:srgbClr val="E36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TextBox 70"/>
          <p:cNvSpPr txBox="1"/>
          <p:nvPr/>
        </p:nvSpPr>
        <p:spPr>
          <a:xfrm>
            <a:off x="548640" y="630936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LATTICE · 材料学科科研自动化平台</a:t>
            </a:r>
            <a:endParaRPr/>
          </a:p>
        </p:txBody>
      </p:sp>
      <p:sp>
        <p:nvSpPr>
          <p:cNvPr id="301" name="TextBox 71"/>
          <p:cNvSpPr txBox="1"/>
          <p:nvPr/>
        </p:nvSpPr>
        <p:spPr>
          <a:xfrm>
            <a:off x="10972800" y="63093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05 / 14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Rectangle 2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"/>
          <p:cNvSpPr txBox="1"/>
          <p:nvPr/>
        </p:nvSpPr>
        <p:spPr>
          <a:xfrm>
            <a:off x="777240" y="4114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智能抽取：真实论文锚定，绝不臆造</a:t>
            </a:r>
            <a:endParaRPr/>
          </a:p>
        </p:txBody>
      </p:sp>
      <p:sp>
        <p:nvSpPr>
          <p:cNvPr id="306" name="Rectangle 4"/>
          <p:cNvSpPr/>
          <p:nvPr/>
        </p:nvSpPr>
        <p:spPr>
          <a:xfrm>
            <a:off x="548640" y="1463040"/>
            <a:ext cx="612648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5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Rectangle 5"/>
          <p:cNvSpPr/>
          <p:nvPr/>
        </p:nvSpPr>
        <p:spPr>
          <a:xfrm>
            <a:off x="548640" y="1463040"/>
            <a:ext cx="6126480" cy="310896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Oval 6"/>
          <p:cNvSpPr/>
          <p:nvPr/>
        </p:nvSpPr>
        <p:spPr>
          <a:xfrm>
            <a:off x="676656" y="1568196"/>
            <a:ext cx="100584" cy="100584"/>
          </a:xfrm>
          <a:prstGeom prst="ellipse">
            <a:avLst/>
          </a:prstGeom>
          <a:solidFill>
            <a:srgbClr val="E36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Oval 7"/>
          <p:cNvSpPr/>
          <p:nvPr/>
        </p:nvSpPr>
        <p:spPr>
          <a:xfrm>
            <a:off x="832104" y="1568196"/>
            <a:ext cx="100584" cy="100584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Oval 8"/>
          <p:cNvSpPr/>
          <p:nvPr/>
        </p:nvSpPr>
        <p:spPr>
          <a:xfrm>
            <a:off x="987552" y="1568196"/>
            <a:ext cx="100584" cy="100584"/>
          </a:xfrm>
          <a:prstGeom prst="ellipse">
            <a:avLst/>
          </a:prstGeom>
          <a:solidFill>
            <a:srgbClr val="5C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9"/>
          <p:cNvSpPr txBox="1"/>
          <p:nvPr/>
        </p:nvSpPr>
        <p:spPr>
          <a:xfrm>
            <a:off x="1234440" y="1499616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智能抽取 · 解析结果实拍</a:t>
            </a:r>
            <a:endParaRPr/>
          </a:p>
        </p:txBody>
      </p:sp>
      <p:pic>
        <p:nvPicPr>
          <p:cNvPr id="312" name="Picture 10" descr="app-mi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345" y="1837944"/>
            <a:ext cx="4999068" cy="4133087"/>
          </a:xfrm>
          <a:prstGeom prst="rect">
            <a:avLst/>
          </a:prstGeom>
        </p:spPr>
      </p:pic>
      <p:sp>
        <p:nvSpPr>
          <p:cNvPr id="313" name="TextBox 11"/>
          <p:cNvSpPr txBox="1"/>
          <p:nvPr/>
        </p:nvSpPr>
        <p:spPr>
          <a:xfrm>
            <a:off x="7040880" y="15544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0E3B39"/>
                </a:solidFill>
                <a:latin typeface="Microsoft YaHei"/>
                <a:ea typeface="Microsoft YaHei"/>
                <a:cs typeface="Microsoft YaHei"/>
              </a:rPr>
              <a:t>只分析原文有的内容</a:t>
            </a:r>
            <a:endParaRPr/>
          </a:p>
        </p:txBody>
      </p:sp>
      <p:sp>
        <p:nvSpPr>
          <p:cNvPr id="314" name="TextBox 12"/>
          <p:cNvSpPr txBox="1"/>
          <p:nvPr/>
        </p:nvSpPr>
        <p:spPr>
          <a:xfrm>
            <a:off x="7040880" y="210312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C4A49"/>
                </a:solidFill>
                <a:latin typeface="Microsoft YaHei"/>
                <a:ea typeface="Microsoft YaHei"/>
                <a:cs typeface="Microsoft YaHei"/>
              </a:rPr>
              <a:t>抽取引擎只输出论文中真实出现的东西——原料、仪器、工艺、变量、指标、参考文献，逐条标注来源。</a:t>
            </a:r>
            <a:endParaRPr/>
          </a:p>
        </p:txBody>
      </p:sp>
      <p:sp>
        <p:nvSpPr>
          <p:cNvPr id="315" name="TextBox 13"/>
          <p:cNvSpPr txBox="1"/>
          <p:nvPr/>
        </p:nvSpPr>
        <p:spPr>
          <a:xfrm>
            <a:off x="7040880" y="320040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C4A49"/>
                </a:solidFill>
                <a:latin typeface="Microsoft YaHei"/>
                <a:ea typeface="Microsoft YaHei"/>
                <a:cs typeface="Microsoft YaHei"/>
              </a:rPr>
              <a:t>抽不到的内容一律标「原文未报告」，绝不补全、绝不凭空生成。</a:t>
            </a:r>
            <a:endParaRPr/>
          </a:p>
        </p:txBody>
      </p:sp>
      <p:sp>
        <p:nvSpPr>
          <p:cNvPr id="316" name="Rectangle 14"/>
          <p:cNvSpPr/>
          <p:nvPr/>
        </p:nvSpPr>
        <p:spPr>
          <a:xfrm>
            <a:off x="7040880" y="4069080"/>
            <a:ext cx="4572000" cy="77724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Rectangle 15"/>
          <p:cNvSpPr/>
          <p:nvPr/>
        </p:nvSpPr>
        <p:spPr>
          <a:xfrm>
            <a:off x="7040880" y="4069080"/>
            <a:ext cx="82296" cy="77724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TextBox 16"/>
          <p:cNvSpPr txBox="1"/>
          <p:nvPr/>
        </p:nvSpPr>
        <p:spPr>
          <a:xfrm>
            <a:off x="7269480" y="4160520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0E3B39"/>
                </a:solidFill>
                <a:latin typeface="Microsoft YaHei"/>
                <a:ea typeface="Microsoft YaHei"/>
                <a:cs typeface="Microsoft YaHei"/>
              </a:rPr>
              <a:t>每条结论都附原文依据——可追溯、可复核、可信任。</a:t>
            </a:r>
            <a:endParaRPr/>
          </a:p>
        </p:txBody>
      </p:sp>
      <p:sp>
        <p:nvSpPr>
          <p:cNvPr id="319" name="Oval 17"/>
          <p:cNvSpPr/>
          <p:nvPr/>
        </p:nvSpPr>
        <p:spPr>
          <a:xfrm>
            <a:off x="7040880" y="5138928"/>
            <a:ext cx="128016" cy="128016"/>
          </a:xfrm>
          <a:prstGeom prst="ellipse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TextBox 18"/>
          <p:cNvSpPr txBox="1"/>
          <p:nvPr/>
        </p:nvSpPr>
        <p:spPr>
          <a:xfrm>
            <a:off x="7278624" y="5074920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原料与试剂</a:t>
            </a:r>
            <a:endParaRPr/>
          </a:p>
        </p:txBody>
      </p:sp>
      <p:sp>
        <p:nvSpPr>
          <p:cNvPr id="321" name="Oval 19"/>
          <p:cNvSpPr/>
          <p:nvPr/>
        </p:nvSpPr>
        <p:spPr>
          <a:xfrm>
            <a:off x="9372600" y="5138928"/>
            <a:ext cx="128016" cy="128016"/>
          </a:xfrm>
          <a:prstGeom prst="ellipse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TextBox 20"/>
          <p:cNvSpPr txBox="1"/>
          <p:nvPr/>
        </p:nvSpPr>
        <p:spPr>
          <a:xfrm>
            <a:off x="9610344" y="5074920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仪器与设备</a:t>
            </a:r>
            <a:endParaRPr/>
          </a:p>
        </p:txBody>
      </p:sp>
      <p:sp>
        <p:nvSpPr>
          <p:cNvPr id="323" name="Oval 21"/>
          <p:cNvSpPr/>
          <p:nvPr/>
        </p:nvSpPr>
        <p:spPr>
          <a:xfrm>
            <a:off x="7040880" y="5522976"/>
            <a:ext cx="128016" cy="128016"/>
          </a:xfrm>
          <a:prstGeom prst="ellipse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TextBox 22"/>
          <p:cNvSpPr txBox="1"/>
          <p:nvPr/>
        </p:nvSpPr>
        <p:spPr>
          <a:xfrm>
            <a:off x="7278624" y="5458968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工艺与步骤</a:t>
            </a:r>
            <a:endParaRPr/>
          </a:p>
        </p:txBody>
      </p:sp>
      <p:sp>
        <p:nvSpPr>
          <p:cNvPr id="325" name="Oval 23"/>
          <p:cNvSpPr/>
          <p:nvPr/>
        </p:nvSpPr>
        <p:spPr>
          <a:xfrm>
            <a:off x="9372600" y="5522976"/>
            <a:ext cx="128016" cy="128016"/>
          </a:xfrm>
          <a:prstGeom prst="ellipse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TextBox 24"/>
          <p:cNvSpPr txBox="1"/>
          <p:nvPr/>
        </p:nvSpPr>
        <p:spPr>
          <a:xfrm>
            <a:off x="9610344" y="5458968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变量与水平</a:t>
            </a:r>
            <a:endParaRPr/>
          </a:p>
        </p:txBody>
      </p:sp>
      <p:sp>
        <p:nvSpPr>
          <p:cNvPr id="327" name="Oval 25"/>
          <p:cNvSpPr/>
          <p:nvPr/>
        </p:nvSpPr>
        <p:spPr>
          <a:xfrm>
            <a:off x="7040880" y="5907024"/>
            <a:ext cx="128016" cy="128016"/>
          </a:xfrm>
          <a:prstGeom prst="ellipse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TextBox 26"/>
          <p:cNvSpPr txBox="1"/>
          <p:nvPr/>
        </p:nvSpPr>
        <p:spPr>
          <a:xfrm>
            <a:off x="7278624" y="5843016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可测指标</a:t>
            </a:r>
            <a:endParaRPr/>
          </a:p>
        </p:txBody>
      </p:sp>
      <p:sp>
        <p:nvSpPr>
          <p:cNvPr id="329" name="Oval 27"/>
          <p:cNvSpPr/>
          <p:nvPr/>
        </p:nvSpPr>
        <p:spPr>
          <a:xfrm>
            <a:off x="9372600" y="5907024"/>
            <a:ext cx="128016" cy="128016"/>
          </a:xfrm>
          <a:prstGeom prst="ellipse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TextBox 28"/>
          <p:cNvSpPr txBox="1"/>
          <p:nvPr/>
        </p:nvSpPr>
        <p:spPr>
          <a:xfrm>
            <a:off x="9610344" y="5843016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  <a:endParaRPr/>
          </a:p>
        </p:txBody>
      </p:sp>
      <p:sp>
        <p:nvSpPr>
          <p:cNvPr id="331" name="TextBox 29"/>
          <p:cNvSpPr txBox="1"/>
          <p:nvPr/>
        </p:nvSpPr>
        <p:spPr>
          <a:xfrm>
            <a:off x="548640" y="630936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LATTICE · 材料学科科研自动化平台</a:t>
            </a:r>
            <a:endParaRPr/>
          </a:p>
        </p:txBody>
      </p:sp>
      <p:sp>
        <p:nvSpPr>
          <p:cNvPr id="332" name="TextBox 30"/>
          <p:cNvSpPr txBox="1"/>
          <p:nvPr/>
        </p:nvSpPr>
        <p:spPr>
          <a:xfrm>
            <a:off x="10972800" y="63093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06 / 14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Rectangle 2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TextBox 3"/>
          <p:cNvSpPr txBox="1"/>
          <p:nvPr/>
        </p:nvSpPr>
        <p:spPr>
          <a:xfrm>
            <a:off x="777240" y="4114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3D 科研绘图与 SCI 配图规范</a:t>
            </a:r>
            <a:endParaRPr/>
          </a:p>
        </p:txBody>
      </p:sp>
      <p:sp>
        <p:nvSpPr>
          <p:cNvPr id="337" name="Rectangle 4"/>
          <p:cNvSpPr/>
          <p:nvPr/>
        </p:nvSpPr>
        <p:spPr>
          <a:xfrm>
            <a:off x="548640" y="1463040"/>
            <a:ext cx="603504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5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Rectangle 5"/>
          <p:cNvSpPr/>
          <p:nvPr/>
        </p:nvSpPr>
        <p:spPr>
          <a:xfrm>
            <a:off x="548640" y="1463040"/>
            <a:ext cx="6035040" cy="310896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Oval 6"/>
          <p:cNvSpPr/>
          <p:nvPr/>
        </p:nvSpPr>
        <p:spPr>
          <a:xfrm>
            <a:off x="676656" y="1568196"/>
            <a:ext cx="100584" cy="100584"/>
          </a:xfrm>
          <a:prstGeom prst="ellipse">
            <a:avLst/>
          </a:prstGeom>
          <a:solidFill>
            <a:srgbClr val="E36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Oval 7"/>
          <p:cNvSpPr/>
          <p:nvPr/>
        </p:nvSpPr>
        <p:spPr>
          <a:xfrm>
            <a:off x="832104" y="1568196"/>
            <a:ext cx="100584" cy="100584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Oval 8"/>
          <p:cNvSpPr/>
          <p:nvPr/>
        </p:nvSpPr>
        <p:spPr>
          <a:xfrm>
            <a:off x="987552" y="1568196"/>
            <a:ext cx="100584" cy="100584"/>
          </a:xfrm>
          <a:prstGeom prst="ellipse">
            <a:avLst/>
          </a:prstGeom>
          <a:solidFill>
            <a:srgbClr val="5C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TextBox 9"/>
          <p:cNvSpPr txBox="1"/>
          <p:nvPr/>
        </p:nvSpPr>
        <p:spPr>
          <a:xfrm>
            <a:off x="1234440" y="1499616"/>
            <a:ext cx="521207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3D 科研绘图 · 晶胞球棍 / 层状界面实拍</a:t>
            </a:r>
            <a:endParaRPr/>
          </a:p>
        </p:txBody>
      </p:sp>
      <p:pic>
        <p:nvPicPr>
          <p:cNvPr id="343" name="Picture 10" descr="c-3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7" y="1978284"/>
            <a:ext cx="5907024" cy="3852406"/>
          </a:xfrm>
          <a:prstGeom prst="rect">
            <a:avLst/>
          </a:prstGeom>
        </p:spPr>
      </p:pic>
      <p:sp>
        <p:nvSpPr>
          <p:cNvPr id="344" name="TextBox 11"/>
          <p:cNvSpPr txBox="1"/>
          <p:nvPr/>
        </p:nvSpPr>
        <p:spPr>
          <a:xfrm>
            <a:off x="7772400" y="155448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0E3B39"/>
                </a:solidFill>
                <a:latin typeface="Microsoft YaHei"/>
                <a:ea typeface="Microsoft YaHei"/>
                <a:cs typeface="Microsoft YaHei"/>
              </a:rPr>
              <a:t>论文专属三维图形</a:t>
            </a:r>
            <a:endParaRPr/>
          </a:p>
        </p:txBody>
      </p:sp>
      <p:sp>
        <p:nvSpPr>
          <p:cNvPr id="345" name="TextBox 12"/>
          <p:cNvSpPr txBox="1"/>
          <p:nvPr/>
        </p:nvSpPr>
        <p:spPr>
          <a:xfrm>
            <a:off x="7772400" y="2148840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C4A49"/>
                </a:solidFill>
                <a:latin typeface="Microsoft YaHei"/>
                <a:ea typeface="Microsoft YaHei"/>
                <a:cs typeface="Microsoft YaHei"/>
              </a:rPr>
              <a:t>三维响应面、晶胞球棍模型、层状 / 界面结构，纯手写投影引擎生成。</a:t>
            </a:r>
            <a:endParaRPr/>
          </a:p>
        </p:txBody>
      </p:sp>
      <p:sp>
        <p:nvSpPr>
          <p:cNvPr id="346" name="TextBox 13"/>
          <p:cNvSpPr txBox="1"/>
          <p:nvPr/>
        </p:nvSpPr>
        <p:spPr>
          <a:xfrm>
            <a:off x="7772400" y="320040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0E3B39"/>
                </a:solidFill>
                <a:latin typeface="Microsoft YaHei"/>
                <a:ea typeface="Microsoft YaHei"/>
                <a:cs typeface="Microsoft YaHei"/>
              </a:rPr>
              <a:t>期刊配色板</a:t>
            </a:r>
            <a:endParaRPr/>
          </a:p>
        </p:txBody>
      </p:sp>
      <p:sp>
        <p:nvSpPr>
          <p:cNvPr id="347" name="TextBox 14"/>
          <p:cNvSpPr txBox="1"/>
          <p:nvPr/>
        </p:nvSpPr>
        <p:spPr>
          <a:xfrm>
            <a:off x="7772400" y="3794760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C4A49"/>
                </a:solidFill>
                <a:latin typeface="Microsoft YaHei"/>
                <a:ea typeface="Microsoft YaHei"/>
                <a:cs typeface="Microsoft YaHei"/>
              </a:rPr>
              <a:t>Okabe–Ito 色盲安全（Nature 金标准）等 6 套，图型切换即联动线宽、标记与网格。</a:t>
            </a:r>
            <a:endParaRPr/>
          </a:p>
        </p:txBody>
      </p:sp>
      <p:sp>
        <p:nvSpPr>
          <p:cNvPr id="348" name="TextBox 15"/>
          <p:cNvSpPr txBox="1"/>
          <p:nvPr/>
        </p:nvSpPr>
        <p:spPr>
          <a:xfrm>
            <a:off x="7772400" y="484632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0E3B39"/>
                </a:solidFill>
                <a:latin typeface="Microsoft YaHei"/>
                <a:ea typeface="Microsoft YaHei"/>
                <a:cs typeface="Microsoft YaHei"/>
              </a:rPr>
              <a:t>SCI 配图手册</a:t>
            </a:r>
            <a:endParaRPr/>
          </a:p>
        </p:txBody>
      </p:sp>
      <p:sp>
        <p:nvSpPr>
          <p:cNvPr id="349" name="TextBox 16"/>
          <p:cNvSpPr txBox="1"/>
          <p:nvPr/>
        </p:nvSpPr>
        <p:spPr>
          <a:xfrm>
            <a:off x="7772400" y="5440680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C4A49"/>
                </a:solidFill>
                <a:latin typeface="Microsoft YaHei"/>
                <a:ea typeface="Microsoft YaHei"/>
                <a:cs typeface="Microsoft YaHei"/>
              </a:rPr>
              <a:t>按论文指标族自动匹配图型与制图惯例；谱图 / 形貌为程序化重建，需实测标定。</a:t>
            </a:r>
            <a:endParaRPr/>
          </a:p>
        </p:txBody>
      </p:sp>
      <p:sp>
        <p:nvSpPr>
          <p:cNvPr id="350" name="TextBox 17"/>
          <p:cNvSpPr txBox="1"/>
          <p:nvPr/>
        </p:nvSpPr>
        <p:spPr>
          <a:xfrm>
            <a:off x="548640" y="630936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LATTICE · 材料学科科研自动化平台</a:t>
            </a:r>
            <a:endParaRPr/>
          </a:p>
        </p:txBody>
      </p:sp>
      <p:sp>
        <p:nvSpPr>
          <p:cNvPr id="351" name="TextBox 18"/>
          <p:cNvSpPr txBox="1"/>
          <p:nvPr/>
        </p:nvSpPr>
        <p:spPr>
          <a:xfrm>
            <a:off x="10972800" y="63093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07 / 14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Rectangle 2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TextBox 3"/>
          <p:cNvSpPr txBox="1"/>
          <p:nvPr/>
        </p:nvSpPr>
        <p:spPr>
          <a:xfrm>
            <a:off x="777240" y="4114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应用场景一 · 高校科研团队</a:t>
            </a:r>
            <a:endParaRPr/>
          </a:p>
        </p:txBody>
      </p:sp>
      <p:sp>
        <p:nvSpPr>
          <p:cNvPr id="356" name="TextBox 4"/>
          <p:cNvSpPr txBox="1"/>
          <p:nvPr/>
        </p:nvSpPr>
        <p:spPr>
          <a:xfrm>
            <a:off x="777240" y="102412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让课题组从"读文献"到"出初稿"一步到位</a:t>
            </a:r>
            <a:endParaRPr/>
          </a:p>
        </p:txBody>
      </p:sp>
      <p:sp>
        <p:nvSpPr>
          <p:cNvPr id="357" name="Rectangle 5"/>
          <p:cNvSpPr/>
          <p:nvPr/>
        </p:nvSpPr>
        <p:spPr>
          <a:xfrm>
            <a:off x="548640" y="1417320"/>
            <a:ext cx="5394960" cy="4160520"/>
          </a:xfrm>
          <a:prstGeom prst="rect">
            <a:avLst/>
          </a:prstGeom>
          <a:solidFill>
            <a:srgbClr val="FFFFFF"/>
          </a:solidFill>
          <a:ln w="15875">
            <a:solidFill>
              <a:srgbClr val="C5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Rectangle 6"/>
          <p:cNvSpPr/>
          <p:nvPr/>
        </p:nvSpPr>
        <p:spPr>
          <a:xfrm>
            <a:off x="548640" y="1417320"/>
            <a:ext cx="5394960" cy="310896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Oval 7"/>
          <p:cNvSpPr/>
          <p:nvPr/>
        </p:nvSpPr>
        <p:spPr>
          <a:xfrm>
            <a:off x="676656" y="1522476"/>
            <a:ext cx="100584" cy="100584"/>
          </a:xfrm>
          <a:prstGeom prst="ellipse">
            <a:avLst/>
          </a:prstGeom>
          <a:solidFill>
            <a:srgbClr val="E36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Oval 8"/>
          <p:cNvSpPr/>
          <p:nvPr/>
        </p:nvSpPr>
        <p:spPr>
          <a:xfrm>
            <a:off x="832104" y="1522476"/>
            <a:ext cx="100584" cy="100584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Oval 9"/>
          <p:cNvSpPr/>
          <p:nvPr/>
        </p:nvSpPr>
        <p:spPr>
          <a:xfrm>
            <a:off x="987552" y="1522476"/>
            <a:ext cx="100584" cy="100584"/>
          </a:xfrm>
          <a:prstGeom prst="ellipse">
            <a:avLst/>
          </a:prstGeom>
          <a:solidFill>
            <a:srgbClr val="5C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TextBox 10"/>
          <p:cNvSpPr txBox="1"/>
          <p:nvPr/>
        </p:nvSpPr>
        <p:spPr>
          <a:xfrm>
            <a:off x="1234440" y="1453896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自动实验 · 设备排程实拍</a:t>
            </a:r>
            <a:endParaRPr/>
          </a:p>
        </p:txBody>
      </p:sp>
      <p:pic>
        <p:nvPicPr>
          <p:cNvPr id="363" name="Picture 11" descr="ex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486" y="1792224"/>
            <a:ext cx="4253266" cy="3721608"/>
          </a:xfrm>
          <a:prstGeom prst="rect">
            <a:avLst/>
          </a:prstGeom>
        </p:spPr>
      </p:pic>
      <p:sp>
        <p:nvSpPr>
          <p:cNvPr id="364" name="Rectangle 12"/>
          <p:cNvSpPr/>
          <p:nvPr/>
        </p:nvSpPr>
        <p:spPr>
          <a:xfrm>
            <a:off x="6217920" y="1417320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Rectangle 13"/>
          <p:cNvSpPr/>
          <p:nvPr/>
        </p:nvSpPr>
        <p:spPr>
          <a:xfrm>
            <a:off x="6217920" y="1417320"/>
            <a:ext cx="109728" cy="196596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TextBox 14"/>
          <p:cNvSpPr txBox="1"/>
          <p:nvPr/>
        </p:nvSpPr>
        <p:spPr>
          <a:xfrm>
            <a:off x="6492240" y="16916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0E3B39"/>
                </a:solidFill>
                <a:latin typeface="Microsoft YaHei"/>
                <a:ea typeface="Microsoft YaHei"/>
                <a:cs typeface="Microsoft YaHei"/>
              </a:rPr>
              <a:t>极速出成果</a:t>
            </a:r>
            <a:endParaRPr/>
          </a:p>
        </p:txBody>
      </p:sp>
      <p:sp>
        <p:nvSpPr>
          <p:cNvPr id="367" name="TextBox 15"/>
          <p:cNvSpPr txBox="1"/>
          <p:nvPr/>
        </p:nvSpPr>
        <p:spPr>
          <a:xfrm>
            <a:off x="6492240" y="228600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研究生把文献一键导入，自动产出实验指导书与论文初稿，从数月压缩到数小时。</a:t>
            </a:r>
            <a:endParaRPr/>
          </a:p>
        </p:txBody>
      </p:sp>
      <p:sp>
        <p:nvSpPr>
          <p:cNvPr id="368" name="Rectangle 16"/>
          <p:cNvSpPr/>
          <p:nvPr/>
        </p:nvSpPr>
        <p:spPr>
          <a:xfrm>
            <a:off x="6217920" y="3611880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Rectangle 17"/>
          <p:cNvSpPr/>
          <p:nvPr/>
        </p:nvSpPr>
        <p:spPr>
          <a:xfrm>
            <a:off x="6217920" y="3611880"/>
            <a:ext cx="109728" cy="196596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TextBox 18"/>
          <p:cNvSpPr txBox="1"/>
          <p:nvPr/>
        </p:nvSpPr>
        <p:spPr>
          <a:xfrm>
            <a:off x="6492240" y="3886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0E3B39"/>
                </a:solidFill>
                <a:latin typeface="Microsoft YaHei"/>
                <a:ea typeface="Microsoft YaHei"/>
                <a:cs typeface="Microsoft YaHei"/>
              </a:rPr>
              <a:t>规范且可复现</a:t>
            </a:r>
            <a:endParaRPr/>
          </a:p>
        </p:txBody>
      </p:sp>
      <p:sp>
        <p:nvSpPr>
          <p:cNvPr id="371" name="TextBox 19"/>
          <p:cNvSpPr txBox="1"/>
          <p:nvPr/>
        </p:nvSpPr>
        <p:spPr>
          <a:xfrm>
            <a:off x="6492240" y="448056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每条结论附原文依据，课题组知识结构化沉淀，经验传承不再靠口耳相传。</a:t>
            </a:r>
            <a:endParaRPr/>
          </a:p>
        </p:txBody>
      </p:sp>
      <p:sp>
        <p:nvSpPr>
          <p:cNvPr id="372" name="Rectangle 20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TextBox 21"/>
          <p:cNvSpPr txBox="1"/>
          <p:nvPr/>
        </p:nvSpPr>
        <p:spPr>
          <a:xfrm>
            <a:off x="777240" y="576072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0E3B39"/>
                </a:solidFill>
                <a:latin typeface="Microsoft YaHei"/>
                <a:ea typeface="Microsoft YaHei"/>
                <a:cs typeface="Microsoft YaHei"/>
              </a:rPr>
              <a:t>从数月到数小时——让课题组把时间花在科学问题本身。</a:t>
            </a:r>
            <a:endParaRPr/>
          </a:p>
        </p:txBody>
      </p:sp>
      <p:sp>
        <p:nvSpPr>
          <p:cNvPr id="374" name="TextBox 22"/>
          <p:cNvSpPr txBox="1"/>
          <p:nvPr/>
        </p:nvSpPr>
        <p:spPr>
          <a:xfrm>
            <a:off x="548640" y="630936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LATTICE · 材料学科科研自动化平台</a:t>
            </a:r>
            <a:endParaRPr/>
          </a:p>
        </p:txBody>
      </p:sp>
      <p:sp>
        <p:nvSpPr>
          <p:cNvPr id="375" name="TextBox 23"/>
          <p:cNvSpPr txBox="1"/>
          <p:nvPr/>
        </p:nvSpPr>
        <p:spPr>
          <a:xfrm>
            <a:off x="10972800" y="63093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08 / 14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Rectangle 2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TextBox 3"/>
          <p:cNvSpPr txBox="1"/>
          <p:nvPr/>
        </p:nvSpPr>
        <p:spPr>
          <a:xfrm>
            <a:off x="777240" y="4114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应用场景二 · 企业新材料研发中心</a:t>
            </a:r>
            <a:endParaRPr/>
          </a:p>
        </p:txBody>
      </p:sp>
      <p:sp>
        <p:nvSpPr>
          <p:cNvPr id="380" name="TextBox 4"/>
          <p:cNvSpPr txBox="1"/>
          <p:nvPr/>
        </p:nvSpPr>
        <p:spPr>
          <a:xfrm>
            <a:off x="548640" y="1508760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E3B39"/>
                </a:solidFill>
                <a:latin typeface="Microsoft YaHei"/>
                <a:ea typeface="Microsoft YaHei"/>
                <a:cs typeface="Microsoft YaHei"/>
              </a:rPr>
              <a:t>把经验变成企业的资产，而非个人的记忆</a:t>
            </a:r>
            <a:endParaRPr/>
          </a:p>
        </p:txBody>
      </p:sp>
      <p:sp>
        <p:nvSpPr>
          <p:cNvPr id="381" name="TextBox 5"/>
          <p:cNvSpPr txBox="1"/>
          <p:nvPr/>
        </p:nvSpPr>
        <p:spPr>
          <a:xfrm>
            <a:off x="548640" y="2148840"/>
            <a:ext cx="65836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>
                <a:solidFill>
                  <a:srgbClr val="3C4A49"/>
                </a:solidFill>
                <a:latin typeface="Microsoft YaHei"/>
                <a:ea typeface="Microsoft YaHei"/>
                <a:cs typeface="Microsoft YaHei"/>
              </a:rPr>
              <a:t>企业研发最大的隐性浪费，是配方、工艺与失败教训散落在个人电脑和离职员工的脑海里。</a:t>
            </a:r>
            <a:endParaRPr/>
          </a:p>
        </p:txBody>
      </p:sp>
      <p:sp>
        <p:nvSpPr>
          <p:cNvPr id="382" name="TextBox 6"/>
          <p:cNvSpPr txBox="1"/>
          <p:nvPr/>
        </p:nvSpPr>
        <p:spPr>
          <a:xfrm>
            <a:off x="548640" y="3474720"/>
            <a:ext cx="65836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>
                <a:solidFill>
                  <a:srgbClr val="3C4A49"/>
                </a:solidFill>
                <a:latin typeface="Microsoft YaHei"/>
                <a:ea typeface="Microsoft YaHei"/>
                <a:cs typeface="Microsoft YaHei"/>
              </a:rPr>
              <a:t>LATTICE 把每一次实验、每一篇文献自动转成结构化研发资产，让知识留得住、用得上。</a:t>
            </a:r>
            <a:endParaRPr/>
          </a:p>
        </p:txBody>
      </p:sp>
      <p:sp>
        <p:nvSpPr>
          <p:cNvPr id="383" name="Rectangle 7"/>
          <p:cNvSpPr/>
          <p:nvPr/>
        </p:nvSpPr>
        <p:spPr>
          <a:xfrm>
            <a:off x="7589520" y="155448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Rectangle 8"/>
          <p:cNvSpPr/>
          <p:nvPr/>
        </p:nvSpPr>
        <p:spPr>
          <a:xfrm>
            <a:off x="7589520" y="1554480"/>
            <a:ext cx="109728" cy="137160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TextBox 9"/>
          <p:cNvSpPr txBox="1"/>
          <p:nvPr/>
        </p:nvSpPr>
        <p:spPr>
          <a:xfrm>
            <a:off x="7863840" y="171907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知识沉淀</a:t>
            </a:r>
            <a:endParaRPr/>
          </a:p>
        </p:txBody>
      </p:sp>
      <p:sp>
        <p:nvSpPr>
          <p:cNvPr id="386" name="TextBox 10"/>
          <p:cNvSpPr txBox="1"/>
          <p:nvPr/>
        </p:nvSpPr>
        <p:spPr>
          <a:xfrm>
            <a:off x="7863840" y="2212848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配方、工艺、性能一键结构化，形成企业自有材料数据库。</a:t>
            </a:r>
            <a:endParaRPr/>
          </a:p>
        </p:txBody>
      </p:sp>
      <p:sp>
        <p:nvSpPr>
          <p:cNvPr id="387" name="Rectangle 11"/>
          <p:cNvSpPr/>
          <p:nvPr/>
        </p:nvSpPr>
        <p:spPr>
          <a:xfrm>
            <a:off x="7589520" y="3063239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Rectangle 12"/>
          <p:cNvSpPr/>
          <p:nvPr/>
        </p:nvSpPr>
        <p:spPr>
          <a:xfrm>
            <a:off x="7589520" y="3063239"/>
            <a:ext cx="109728" cy="137160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TextBox 13"/>
          <p:cNvSpPr txBox="1"/>
          <p:nvPr/>
        </p:nvSpPr>
        <p:spPr>
          <a:xfrm>
            <a:off x="7863840" y="322783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协同提效</a:t>
            </a:r>
            <a:endParaRPr/>
          </a:p>
        </p:txBody>
      </p:sp>
      <p:sp>
        <p:nvSpPr>
          <p:cNvPr id="390" name="TextBox 14"/>
          <p:cNvSpPr txBox="1"/>
          <p:nvPr/>
        </p:nvSpPr>
        <p:spPr>
          <a:xfrm>
            <a:off x="7863840" y="3721607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研发—文献—撰写同处一条流水线，大幅减少交接损耗。</a:t>
            </a:r>
            <a:endParaRPr/>
          </a:p>
        </p:txBody>
      </p:sp>
      <p:sp>
        <p:nvSpPr>
          <p:cNvPr id="391" name="Rectangle 15"/>
          <p:cNvSpPr/>
          <p:nvPr/>
        </p:nvSpPr>
        <p:spPr>
          <a:xfrm>
            <a:off x="7589520" y="457200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Rectangle 16"/>
          <p:cNvSpPr/>
          <p:nvPr/>
        </p:nvSpPr>
        <p:spPr>
          <a:xfrm>
            <a:off x="7589520" y="4572000"/>
            <a:ext cx="109728" cy="137160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TextBox 17"/>
          <p:cNvSpPr txBox="1"/>
          <p:nvPr/>
        </p:nvSpPr>
        <p:spPr>
          <a:xfrm>
            <a:off x="7863840" y="473659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安全保密</a:t>
            </a:r>
            <a:endParaRPr/>
          </a:p>
        </p:txBody>
      </p:sp>
      <p:sp>
        <p:nvSpPr>
          <p:cNvPr id="394" name="TextBox 18"/>
          <p:cNvSpPr txBox="1"/>
          <p:nvPr/>
        </p:nvSpPr>
        <p:spPr>
          <a:xfrm>
            <a:off x="7863840" y="5230368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纯本地运行，数据不出本机，无需联网上云，合规无忧。</a:t>
            </a:r>
            <a:endParaRPr/>
          </a:p>
        </p:txBody>
      </p:sp>
      <p:sp>
        <p:nvSpPr>
          <p:cNvPr id="395" name="TextBox 19"/>
          <p:cNvSpPr txBox="1"/>
          <p:nvPr/>
        </p:nvSpPr>
        <p:spPr>
          <a:xfrm>
            <a:off x="548640" y="630936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LATTICE · 材料学科科研自动化平台</a:t>
            </a:r>
            <a:endParaRPr/>
          </a:p>
        </p:txBody>
      </p:sp>
      <p:sp>
        <p:nvSpPr>
          <p:cNvPr id="396" name="TextBox 20"/>
          <p:cNvSpPr txBox="1"/>
          <p:nvPr/>
        </p:nvSpPr>
        <p:spPr>
          <a:xfrm>
            <a:off x="10972800" y="63093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09 / 14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2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3"/>
          <p:cNvSpPr txBox="1"/>
          <p:nvPr/>
        </p:nvSpPr>
        <p:spPr>
          <a:xfrm>
            <a:off x="777240" y="4114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应用场景三 · 综述与文献情报</a:t>
            </a:r>
            <a:endParaRPr/>
          </a:p>
        </p:txBody>
      </p:sp>
      <p:sp>
        <p:nvSpPr>
          <p:cNvPr id="47" name="Rectangle 4"/>
          <p:cNvSpPr/>
          <p:nvPr/>
        </p:nvSpPr>
        <p:spPr>
          <a:xfrm>
            <a:off x="548640" y="1463040"/>
            <a:ext cx="603504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5D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5"/>
          <p:cNvSpPr/>
          <p:nvPr/>
        </p:nvSpPr>
        <p:spPr>
          <a:xfrm>
            <a:off x="548640" y="1463040"/>
            <a:ext cx="6035040" cy="310896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6"/>
          <p:cNvSpPr/>
          <p:nvPr/>
        </p:nvSpPr>
        <p:spPr>
          <a:xfrm>
            <a:off x="676656" y="1568196"/>
            <a:ext cx="100584" cy="100584"/>
          </a:xfrm>
          <a:prstGeom prst="ellipse">
            <a:avLst/>
          </a:prstGeom>
          <a:solidFill>
            <a:srgbClr val="E36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7"/>
          <p:cNvSpPr/>
          <p:nvPr/>
        </p:nvSpPr>
        <p:spPr>
          <a:xfrm>
            <a:off x="832104" y="1568196"/>
            <a:ext cx="100584" cy="100584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8"/>
          <p:cNvSpPr/>
          <p:nvPr/>
        </p:nvSpPr>
        <p:spPr>
          <a:xfrm>
            <a:off x="987552" y="1568196"/>
            <a:ext cx="100584" cy="100584"/>
          </a:xfrm>
          <a:prstGeom prst="ellipse">
            <a:avLst/>
          </a:prstGeom>
          <a:solidFill>
            <a:srgbClr val="5C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9"/>
          <p:cNvSpPr txBox="1"/>
          <p:nvPr/>
        </p:nvSpPr>
        <p:spPr>
          <a:xfrm>
            <a:off x="1234440" y="1499616"/>
            <a:ext cx="521207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文献调研 · 配比矩阵 / 空缺解析实拍</a:t>
            </a:r>
            <a:endParaRPr/>
          </a:p>
        </p:txBody>
      </p:sp>
      <p:pic>
        <p:nvPicPr>
          <p:cNvPr id="53" name="Picture 10" descr="li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395" y="1837944"/>
            <a:ext cx="4723529" cy="4133087"/>
          </a:xfrm>
          <a:prstGeom prst="rect">
            <a:avLst/>
          </a:prstGeom>
        </p:spPr>
      </p:pic>
      <p:sp>
        <p:nvSpPr>
          <p:cNvPr id="54" name="TextBox 11"/>
          <p:cNvSpPr txBox="1"/>
          <p:nvPr/>
        </p:nvSpPr>
        <p:spPr>
          <a:xfrm>
            <a:off x="7772400" y="155448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0E3B39"/>
                </a:solidFill>
                <a:latin typeface="Microsoft YaHei"/>
                <a:ea typeface="Microsoft YaHei"/>
                <a:cs typeface="Microsoft YaHei"/>
              </a:rPr>
              <a:t>综述自动识别</a:t>
            </a:r>
            <a:endParaRPr/>
          </a:p>
        </p:txBody>
      </p:sp>
      <p:sp>
        <p:nvSpPr>
          <p:cNvPr id="55" name="TextBox 12"/>
          <p:cNvSpPr txBox="1"/>
          <p:nvPr/>
        </p:nvSpPr>
        <p:spPr>
          <a:xfrm>
            <a:off x="7772400" y="2148840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C4A49"/>
                </a:solidFill>
                <a:latin typeface="Microsoft YaHei"/>
                <a:ea typeface="Microsoft YaHei"/>
                <a:cs typeface="Microsoft YaHei"/>
              </a:rPr>
              <a:t>无变量、无实验步骤的综述 / 展望类文献，按结构证据自动切换为情报模式。</a:t>
            </a:r>
            <a:endParaRPr/>
          </a:p>
        </p:txBody>
      </p:sp>
      <p:sp>
        <p:nvSpPr>
          <p:cNvPr id="56" name="TextBox 13"/>
          <p:cNvSpPr txBox="1"/>
          <p:nvPr/>
        </p:nvSpPr>
        <p:spPr>
          <a:xfrm>
            <a:off x="7772400" y="320040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0E3B39"/>
                </a:solidFill>
                <a:latin typeface="Microsoft YaHei"/>
                <a:ea typeface="Microsoft YaHei"/>
                <a:cs typeface="Microsoft YaHei"/>
              </a:rPr>
              <a:t>三类图谱</a:t>
            </a:r>
            <a:endParaRPr/>
          </a:p>
        </p:txBody>
      </p:sp>
      <p:sp>
        <p:nvSpPr>
          <p:cNvPr id="57" name="TextBox 14"/>
          <p:cNvSpPr txBox="1"/>
          <p:nvPr/>
        </p:nvSpPr>
        <p:spPr>
          <a:xfrm>
            <a:off x="7772400" y="3794760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C4A49"/>
                </a:solidFill>
                <a:latin typeface="Microsoft YaHei"/>
                <a:ea typeface="Microsoft YaHei"/>
                <a:cs typeface="Microsoft YaHei"/>
              </a:rPr>
              <a:t>概念路线图、对比矩阵、年份演进时间线，全部从该论文自身的高频术语提取。</a:t>
            </a:r>
            <a:endParaRPr/>
          </a:p>
        </p:txBody>
      </p:sp>
      <p:sp>
        <p:nvSpPr>
          <p:cNvPr id="58" name="TextBox 15"/>
          <p:cNvSpPr txBox="1"/>
          <p:nvPr/>
        </p:nvSpPr>
        <p:spPr>
          <a:xfrm>
            <a:off x="7772400" y="484632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0E3B39"/>
                </a:solidFill>
                <a:latin typeface="Microsoft YaHei"/>
                <a:ea typeface="Microsoft YaHei"/>
                <a:cs typeface="Microsoft YaHei"/>
              </a:rPr>
              <a:t>不预设词池</a:t>
            </a:r>
            <a:endParaRPr/>
          </a:p>
        </p:txBody>
      </p:sp>
      <p:sp>
        <p:nvSpPr>
          <p:cNvPr id="59" name="TextBox 16"/>
          <p:cNvSpPr txBox="1"/>
          <p:nvPr/>
        </p:nvSpPr>
        <p:spPr>
          <a:xfrm>
            <a:off x="7772400" y="5440680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C4A49"/>
                </a:solidFill>
                <a:latin typeface="Microsoft YaHei"/>
                <a:ea typeface="Microsoft YaHei"/>
                <a:cs typeface="Microsoft YaHei"/>
              </a:rPr>
              <a:t>早期内置的领域词表已彻底移除——术语来自论文自己，而非套模板。</a:t>
            </a:r>
            <a:endParaRPr/>
          </a:p>
        </p:txBody>
      </p:sp>
      <p:sp>
        <p:nvSpPr>
          <p:cNvPr id="60" name="TextBox 17"/>
          <p:cNvSpPr txBox="1"/>
          <p:nvPr/>
        </p:nvSpPr>
        <p:spPr>
          <a:xfrm>
            <a:off x="548640" y="630936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LATTICE · 材料学科科研自动化平台</a:t>
            </a:r>
            <a:endParaRPr/>
          </a:p>
        </p:txBody>
      </p:sp>
      <p:sp>
        <p:nvSpPr>
          <p:cNvPr id="61" name="TextBox 18"/>
          <p:cNvSpPr txBox="1"/>
          <p:nvPr/>
        </p:nvSpPr>
        <p:spPr>
          <a:xfrm>
            <a:off x="10972800" y="63093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10 / 14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2"/>
          <p:cNvSpPr txBox="1"/>
          <p:nvPr/>
        </p:nvSpPr>
        <p:spPr>
          <a:xfrm>
            <a:off x="0" y="64008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7FE9DC"/>
                </a:solidFill>
                <a:latin typeface="Microsoft YaHei"/>
                <a:ea typeface="Microsoft YaHei"/>
                <a:cs typeface="Microsoft YaHei"/>
              </a:rPr>
              <a:t>价值冲击 · IMPACT</a:t>
            </a:r>
            <a:endParaRPr/>
          </a:p>
        </p:txBody>
      </p:sp>
      <p:sp>
        <p:nvSpPr>
          <p:cNvPr id="65" name="TextBox 3"/>
          <p:cNvSpPr txBox="1"/>
          <p:nvPr/>
        </p:nvSpPr>
        <p:spPr>
          <a:xfrm>
            <a:off x="777240" y="1737360"/>
            <a:ext cx="33832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800" b="1">
                <a:solidFill>
                  <a:srgbClr val="22B8A6"/>
                </a:solidFill>
                <a:latin typeface="Consolas"/>
                <a:ea typeface="Consolas"/>
                <a:cs typeface="Consolas"/>
              </a:rPr>
              <a:t>10×</a:t>
            </a:r>
            <a:endParaRPr/>
          </a:p>
        </p:txBody>
      </p:sp>
      <p:sp>
        <p:nvSpPr>
          <p:cNvPr id="66" name="TextBox 4"/>
          <p:cNvSpPr txBox="1"/>
          <p:nvPr/>
        </p:nvSpPr>
        <p:spPr>
          <a:xfrm>
            <a:off x="777240" y="338328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>
                <a:solidFill>
                  <a:srgbClr val="E6F4F1"/>
                </a:solidFill>
                <a:latin typeface="Microsoft YaHei"/>
                <a:ea typeface="Microsoft YaHei"/>
                <a:cs typeface="Microsoft YaHei"/>
              </a:rPr>
              <a:t>科研效率跃升</a:t>
            </a:r>
            <a:endParaRPr/>
          </a:p>
        </p:txBody>
      </p:sp>
      <p:sp>
        <p:nvSpPr>
          <p:cNvPr id="67" name="Rectangle 5"/>
          <p:cNvSpPr/>
          <p:nvPr/>
        </p:nvSpPr>
        <p:spPr>
          <a:xfrm>
            <a:off x="4297680" y="1828800"/>
            <a:ext cx="18288" cy="1371600"/>
          </a:xfrm>
          <a:prstGeom prst="rect">
            <a:avLst/>
          </a:prstGeom>
          <a:solidFill>
            <a:srgbClr val="7F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"/>
          <p:cNvSpPr txBox="1"/>
          <p:nvPr/>
        </p:nvSpPr>
        <p:spPr>
          <a:xfrm>
            <a:off x="4526279" y="1737360"/>
            <a:ext cx="33832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800" b="1">
                <a:solidFill>
                  <a:srgbClr val="22B8A6"/>
                </a:solidFill>
                <a:latin typeface="Consolas"/>
                <a:ea typeface="Consolas"/>
                <a:cs typeface="Consolas"/>
              </a:rPr>
              <a:t>85%</a:t>
            </a:r>
            <a:endParaRPr/>
          </a:p>
        </p:txBody>
      </p:sp>
      <p:sp>
        <p:nvSpPr>
          <p:cNvPr id="69" name="TextBox 7"/>
          <p:cNvSpPr txBox="1"/>
          <p:nvPr/>
        </p:nvSpPr>
        <p:spPr>
          <a:xfrm>
            <a:off x="4526279" y="338328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>
                <a:solidFill>
                  <a:srgbClr val="E6F4F1"/>
                </a:solidFill>
                <a:latin typeface="Microsoft YaHei"/>
                <a:ea typeface="Microsoft YaHei"/>
                <a:cs typeface="Microsoft YaHei"/>
              </a:rPr>
              <a:t>论文周期压缩</a:t>
            </a:r>
            <a:endParaRPr/>
          </a:p>
        </p:txBody>
      </p:sp>
      <p:sp>
        <p:nvSpPr>
          <p:cNvPr id="70" name="Rectangle 8"/>
          <p:cNvSpPr/>
          <p:nvPr/>
        </p:nvSpPr>
        <p:spPr>
          <a:xfrm>
            <a:off x="8046719" y="1828800"/>
            <a:ext cx="18288" cy="1371600"/>
          </a:xfrm>
          <a:prstGeom prst="rect">
            <a:avLst/>
          </a:prstGeom>
          <a:solidFill>
            <a:srgbClr val="7F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9"/>
          <p:cNvSpPr txBox="1"/>
          <p:nvPr/>
        </p:nvSpPr>
        <p:spPr>
          <a:xfrm>
            <a:off x="8275319" y="1737360"/>
            <a:ext cx="33832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800" b="1">
                <a:solidFill>
                  <a:srgbClr val="22B8A6"/>
                </a:solidFill>
                <a:latin typeface="Consolas"/>
                <a:ea typeface="Consolas"/>
                <a:cs typeface="Consolas"/>
              </a:rPr>
              <a:t>100%</a:t>
            </a:r>
            <a:endParaRPr/>
          </a:p>
        </p:txBody>
      </p:sp>
      <p:sp>
        <p:nvSpPr>
          <p:cNvPr id="72" name="TextBox 10"/>
          <p:cNvSpPr txBox="1"/>
          <p:nvPr/>
        </p:nvSpPr>
        <p:spPr>
          <a:xfrm>
            <a:off x="8275319" y="338328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>
                <a:solidFill>
                  <a:srgbClr val="E6F4F1"/>
                </a:solidFill>
                <a:latin typeface="Microsoft YaHei"/>
                <a:ea typeface="Microsoft YaHei"/>
                <a:cs typeface="Microsoft YaHei"/>
              </a:rPr>
              <a:t>原文可追溯 · 零编造</a:t>
            </a:r>
            <a:endParaRPr/>
          </a:p>
        </p:txBody>
      </p:sp>
      <p:sp>
        <p:nvSpPr>
          <p:cNvPr id="73" name="Rectangle 11"/>
          <p:cNvSpPr/>
          <p:nvPr/>
        </p:nvSpPr>
        <p:spPr>
          <a:xfrm>
            <a:off x="5029200" y="4114800"/>
            <a:ext cx="2103120" cy="54864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12"/>
          <p:cNvSpPr txBox="1"/>
          <p:nvPr/>
        </p:nvSpPr>
        <p:spPr>
          <a:xfrm>
            <a:off x="0" y="457200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把科研的重复劳动交给 LATTICE，</a:t>
            </a:r>
            <a:endParaRPr/>
          </a:p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把创造的快乐还给你。</a:t>
            </a:r>
            <a:endParaRPr/>
          </a:p>
        </p:txBody>
      </p:sp>
      <p:sp>
        <p:nvSpPr>
          <p:cNvPr id="75" name="TextBox 13"/>
          <p:cNvSpPr txBox="1"/>
          <p:nvPr/>
        </p:nvSpPr>
        <p:spPr>
          <a:xfrm>
            <a:off x="10972800" y="63093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CFE9E4"/>
                </a:solidFill>
                <a:latin typeface="Microsoft YaHei"/>
                <a:ea typeface="Microsoft YaHei"/>
                <a:cs typeface="Microsoft YaHei"/>
              </a:rPr>
              <a:t>11 / 14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2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0E3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3"/>
          <p:cNvSpPr txBox="1"/>
          <p:nvPr/>
        </p:nvSpPr>
        <p:spPr>
          <a:xfrm>
            <a:off x="502920" y="265176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技术底座</a:t>
            </a:r>
            <a:endParaRPr/>
          </a:p>
        </p:txBody>
      </p:sp>
      <p:sp>
        <p:nvSpPr>
          <p:cNvPr id="80" name="TextBox 4"/>
          <p:cNvSpPr txBox="1"/>
          <p:nvPr/>
        </p:nvSpPr>
        <p:spPr>
          <a:xfrm>
            <a:off x="548640" y="35204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7FE9DC"/>
                </a:solidFill>
                <a:latin typeface="Microsoft YaHei"/>
                <a:ea typeface="Microsoft YaHei"/>
                <a:cs typeface="Microsoft YaHei"/>
              </a:rPr>
              <a:t>TECH FOUNDATION</a:t>
            </a:r>
            <a:endParaRPr/>
          </a:p>
        </p:txBody>
      </p:sp>
      <p:sp>
        <p:nvSpPr>
          <p:cNvPr id="81" name="Rectangle 5"/>
          <p:cNvSpPr/>
          <p:nvPr/>
        </p:nvSpPr>
        <p:spPr>
          <a:xfrm>
            <a:off x="548640" y="3886200"/>
            <a:ext cx="914400" cy="54864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6"/>
          <p:cNvSpPr txBox="1"/>
          <p:nvPr/>
        </p:nvSpPr>
        <p:spPr>
          <a:xfrm>
            <a:off x="548640" y="420624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FE9E4"/>
                </a:solidFill>
                <a:latin typeface="Microsoft YaHei"/>
                <a:ea typeface="Microsoft YaHei"/>
                <a:cs typeface="Microsoft YaHei"/>
              </a:rPr>
              <a:t>把复杂留给自己，</a:t>
            </a:r>
            <a:endParaRPr/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CFE9E4"/>
                </a:solidFill>
                <a:latin typeface="Microsoft YaHei"/>
                <a:ea typeface="Microsoft YaHei"/>
                <a:cs typeface="Microsoft YaHei"/>
              </a:rPr>
              <a:t>把简单交给用户</a:t>
            </a:r>
            <a:endParaRPr/>
          </a:p>
        </p:txBody>
      </p:sp>
      <p:sp>
        <p:nvSpPr>
          <p:cNvPr id="83" name="Rectangle 7"/>
          <p:cNvSpPr/>
          <p:nvPr/>
        </p:nvSpPr>
        <p:spPr>
          <a:xfrm>
            <a:off x="4480560" y="914400"/>
            <a:ext cx="7223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"/>
          <p:cNvSpPr/>
          <p:nvPr/>
        </p:nvSpPr>
        <p:spPr>
          <a:xfrm>
            <a:off x="4480560" y="914400"/>
            <a:ext cx="109728" cy="105156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9"/>
          <p:cNvSpPr txBox="1"/>
          <p:nvPr/>
        </p:nvSpPr>
        <p:spPr>
          <a:xfrm>
            <a:off x="4754880" y="1060704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纯静态 · 零构建</a:t>
            </a:r>
            <a:endParaRPr/>
          </a:p>
        </p:txBody>
      </p:sp>
      <p:sp>
        <p:nvSpPr>
          <p:cNvPr id="86" name="TextBox 10"/>
          <p:cNvSpPr txBox="1"/>
          <p:nvPr/>
        </p:nvSpPr>
        <p:spPr>
          <a:xfrm>
            <a:off x="4754880" y="1481328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无打包、无框架、无第三方运行时依赖，浏览器直接打开即可运行。</a:t>
            </a:r>
            <a:endParaRPr/>
          </a:p>
        </p:txBody>
      </p:sp>
      <p:sp>
        <p:nvSpPr>
          <p:cNvPr id="87" name="Rectangle 11"/>
          <p:cNvSpPr/>
          <p:nvPr/>
        </p:nvSpPr>
        <p:spPr>
          <a:xfrm>
            <a:off x="4480560" y="2103120"/>
            <a:ext cx="7223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12"/>
          <p:cNvSpPr/>
          <p:nvPr/>
        </p:nvSpPr>
        <p:spPr>
          <a:xfrm>
            <a:off x="4480560" y="2103120"/>
            <a:ext cx="109728" cy="105156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13"/>
          <p:cNvSpPr txBox="1"/>
          <p:nvPr/>
        </p:nvSpPr>
        <p:spPr>
          <a:xfrm>
            <a:off x="4754880" y="2249424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PDF 解析器 v3</a:t>
            </a:r>
            <a:endParaRPr/>
          </a:p>
        </p:txBody>
      </p:sp>
      <p:sp>
        <p:nvSpPr>
          <p:cNvPr id="90" name="TextBox 14"/>
          <p:cNvSpPr txBox="1"/>
          <p:nvPr/>
        </p:nvSpPr>
        <p:spPr>
          <a:xfrm>
            <a:off x="4754880" y="2670048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真实期刊 PDF 四层修复：4017 乱码 → 54586 字符干净正文。</a:t>
            </a:r>
            <a:endParaRPr/>
          </a:p>
        </p:txBody>
      </p:sp>
      <p:sp>
        <p:nvSpPr>
          <p:cNvPr id="91" name="Rectangle 15"/>
          <p:cNvSpPr/>
          <p:nvPr/>
        </p:nvSpPr>
        <p:spPr>
          <a:xfrm>
            <a:off x="4480560" y="3291839"/>
            <a:ext cx="7223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16"/>
          <p:cNvSpPr/>
          <p:nvPr/>
        </p:nvSpPr>
        <p:spPr>
          <a:xfrm>
            <a:off x="4480560" y="3291839"/>
            <a:ext cx="109728" cy="105156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17"/>
          <p:cNvSpPr txBox="1"/>
          <p:nvPr/>
        </p:nvSpPr>
        <p:spPr>
          <a:xfrm>
            <a:off x="4754880" y="3438144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本地文献库</a:t>
            </a:r>
            <a:endParaRPr/>
          </a:p>
        </p:txBody>
      </p:sp>
      <p:sp>
        <p:nvSpPr>
          <p:cNvPr id="94" name="TextBox 18"/>
          <p:cNvSpPr txBox="1"/>
          <p:nvPr/>
        </p:nvSpPr>
        <p:spPr>
          <a:xfrm>
            <a:off x="4754880" y="3858768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内置 132 条真实文献，离线可用，断网环境照常工作。</a:t>
            </a:r>
            <a:endParaRPr/>
          </a:p>
        </p:txBody>
      </p:sp>
      <p:sp>
        <p:nvSpPr>
          <p:cNvPr id="95" name="Rectangle 19"/>
          <p:cNvSpPr/>
          <p:nvPr/>
        </p:nvSpPr>
        <p:spPr>
          <a:xfrm>
            <a:off x="4480560" y="4480559"/>
            <a:ext cx="7223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20"/>
          <p:cNvSpPr/>
          <p:nvPr/>
        </p:nvSpPr>
        <p:spPr>
          <a:xfrm>
            <a:off x="4480560" y="4480559"/>
            <a:ext cx="109728" cy="105156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21"/>
          <p:cNvSpPr txBox="1"/>
          <p:nvPr/>
        </p:nvSpPr>
        <p:spPr>
          <a:xfrm>
            <a:off x="4754880" y="4626864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双击即跑</a:t>
            </a:r>
            <a:endParaRPr/>
          </a:p>
        </p:txBody>
      </p:sp>
      <p:sp>
        <p:nvSpPr>
          <p:cNvPr id="98" name="TextBox 22"/>
          <p:cNvSpPr txBox="1"/>
          <p:nvPr/>
        </p:nvSpPr>
        <p:spPr>
          <a:xfrm>
            <a:off x="4754880" y="5047488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python -m http.server 或直接打开 index.html，零运维零配置。</a:t>
            </a:r>
            <a:endParaRPr/>
          </a:p>
        </p:txBody>
      </p:sp>
      <p:sp>
        <p:nvSpPr>
          <p:cNvPr id="99" name="TextBox 23"/>
          <p:cNvSpPr txBox="1"/>
          <p:nvPr/>
        </p:nvSpPr>
        <p:spPr>
          <a:xfrm>
            <a:off x="548640" y="630936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LATTICE · 材料学科科研自动化平台</a:t>
            </a:r>
            <a:endParaRPr/>
          </a:p>
        </p:txBody>
      </p:sp>
      <p:sp>
        <p:nvSpPr>
          <p:cNvPr id="100" name="TextBox 24"/>
          <p:cNvSpPr txBox="1"/>
          <p:nvPr/>
        </p:nvSpPr>
        <p:spPr>
          <a:xfrm>
            <a:off x="10972800" y="63093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12 / 14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2"/>
          <p:cNvSpPr/>
          <p:nvPr/>
        </p:nvSpPr>
        <p:spPr>
          <a:xfrm>
            <a:off x="548640" y="457200"/>
            <a:ext cx="82296" cy="502920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3"/>
          <p:cNvSpPr txBox="1"/>
          <p:nvPr/>
        </p:nvSpPr>
        <p:spPr>
          <a:xfrm>
            <a:off x="777240" y="4114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0F1C1B"/>
                </a:solidFill>
                <a:latin typeface="Microsoft YaHei"/>
                <a:ea typeface="Microsoft YaHei"/>
                <a:cs typeface="Microsoft YaHei"/>
              </a:rPr>
              <a:t>为什么选 LATTICE</a:t>
            </a:r>
            <a:endParaRPr/>
          </a:p>
        </p:txBody>
      </p:sp>
      <p:sp>
        <p:nvSpPr>
          <p:cNvPr id="105" name="Rectangle 4"/>
          <p:cNvSpPr/>
          <p:nvPr/>
        </p:nvSpPr>
        <p:spPr>
          <a:xfrm>
            <a:off x="548640" y="164592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5"/>
          <p:cNvSpPr/>
          <p:nvPr/>
        </p:nvSpPr>
        <p:spPr>
          <a:xfrm>
            <a:off x="548640" y="1645920"/>
            <a:ext cx="3611880" cy="128016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6"/>
          <p:cNvSpPr/>
          <p:nvPr/>
        </p:nvSpPr>
        <p:spPr>
          <a:xfrm>
            <a:off x="1965960" y="2103120"/>
            <a:ext cx="822960" cy="822960"/>
          </a:xfrm>
          <a:prstGeom prst="ellipse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7"/>
          <p:cNvSpPr txBox="1"/>
          <p:nvPr/>
        </p:nvSpPr>
        <p:spPr>
          <a:xfrm>
            <a:off x="1965960" y="224028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000" b="1">
                <a:solidFill>
                  <a:srgbClr val="22B8A6"/>
                </a:solidFill>
                <a:latin typeface="Microsoft YaHei"/>
                <a:ea typeface="Microsoft YaHei"/>
                <a:cs typeface="Microsoft YaHei"/>
              </a:rPr>
              <a:t>●</a:t>
            </a:r>
            <a:endParaRPr/>
          </a:p>
        </p:txBody>
      </p:sp>
      <p:sp>
        <p:nvSpPr>
          <p:cNvPr id="109" name="TextBox 8"/>
          <p:cNvSpPr txBox="1"/>
          <p:nvPr/>
        </p:nvSpPr>
        <p:spPr>
          <a:xfrm>
            <a:off x="822959" y="32004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0E3B39"/>
                </a:solidFill>
                <a:latin typeface="Microsoft YaHei"/>
                <a:ea typeface="Microsoft YaHei"/>
                <a:cs typeface="Microsoft YaHei"/>
              </a:rPr>
              <a:t>真实锚定 · 不编造</a:t>
            </a:r>
            <a:endParaRPr/>
          </a:p>
        </p:txBody>
      </p:sp>
      <p:sp>
        <p:nvSpPr>
          <p:cNvPr id="110" name="TextBox 9"/>
          <p:cNvSpPr txBox="1"/>
          <p:nvPr/>
        </p:nvSpPr>
        <p:spPr>
          <a:xfrm>
            <a:off x="822959" y="3840480"/>
            <a:ext cx="31089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每条结论都附原文依据，缺项标「未报告」，绝不补全、绝不凭空生成数据——科研诚信的底线。</a:t>
            </a:r>
            <a:endParaRPr/>
          </a:p>
        </p:txBody>
      </p:sp>
      <p:sp>
        <p:nvSpPr>
          <p:cNvPr id="111" name="Rectangle 10"/>
          <p:cNvSpPr/>
          <p:nvPr/>
        </p:nvSpPr>
        <p:spPr>
          <a:xfrm>
            <a:off x="4343400" y="164592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"/>
          <p:cNvSpPr/>
          <p:nvPr/>
        </p:nvSpPr>
        <p:spPr>
          <a:xfrm>
            <a:off x="4343400" y="1645920"/>
            <a:ext cx="3611880" cy="128016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2"/>
          <p:cNvSpPr/>
          <p:nvPr/>
        </p:nvSpPr>
        <p:spPr>
          <a:xfrm>
            <a:off x="5760720" y="2103120"/>
            <a:ext cx="822960" cy="822960"/>
          </a:xfrm>
          <a:prstGeom prst="ellipse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3"/>
          <p:cNvSpPr txBox="1"/>
          <p:nvPr/>
        </p:nvSpPr>
        <p:spPr>
          <a:xfrm>
            <a:off x="5760720" y="224028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000" b="1">
                <a:solidFill>
                  <a:srgbClr val="22B8A6"/>
                </a:solidFill>
                <a:latin typeface="Microsoft YaHei"/>
                <a:ea typeface="Microsoft YaHei"/>
                <a:cs typeface="Microsoft YaHei"/>
              </a:rPr>
              <a:t>●</a:t>
            </a:r>
            <a:endParaRPr/>
          </a:p>
        </p:txBody>
      </p:sp>
      <p:sp>
        <p:nvSpPr>
          <p:cNvPr id="115" name="TextBox 14"/>
          <p:cNvSpPr txBox="1"/>
          <p:nvPr/>
        </p:nvSpPr>
        <p:spPr>
          <a:xfrm>
            <a:off x="4617720" y="32004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0E3B39"/>
                </a:solidFill>
                <a:latin typeface="Microsoft YaHei"/>
                <a:ea typeface="Microsoft YaHei"/>
                <a:cs typeface="Microsoft YaHei"/>
              </a:rPr>
              <a:t>零部署 · 零门槛</a:t>
            </a:r>
            <a:endParaRPr/>
          </a:p>
        </p:txBody>
      </p:sp>
      <p:sp>
        <p:nvSpPr>
          <p:cNvPr id="116" name="TextBox 15"/>
          <p:cNvSpPr txBox="1"/>
          <p:nvPr/>
        </p:nvSpPr>
        <p:spPr>
          <a:xfrm>
            <a:off x="4617720" y="3840480"/>
            <a:ext cx="31089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纯静态、零构建、零第三方运行时依赖，双击 index.html 即跑，无需服务器、无需配环境、无需联网。</a:t>
            </a:r>
            <a:endParaRPr/>
          </a:p>
        </p:txBody>
      </p:sp>
      <p:sp>
        <p:nvSpPr>
          <p:cNvPr id="117" name="Rectangle 16"/>
          <p:cNvSpPr/>
          <p:nvPr/>
        </p:nvSpPr>
        <p:spPr>
          <a:xfrm>
            <a:off x="8138160" y="164592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7"/>
          <p:cNvSpPr/>
          <p:nvPr/>
        </p:nvSpPr>
        <p:spPr>
          <a:xfrm>
            <a:off x="8138160" y="1645920"/>
            <a:ext cx="3611880" cy="128016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8"/>
          <p:cNvSpPr/>
          <p:nvPr/>
        </p:nvSpPr>
        <p:spPr>
          <a:xfrm>
            <a:off x="9555480" y="2103120"/>
            <a:ext cx="822960" cy="822960"/>
          </a:xfrm>
          <a:prstGeom prst="ellipse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9"/>
          <p:cNvSpPr txBox="1"/>
          <p:nvPr/>
        </p:nvSpPr>
        <p:spPr>
          <a:xfrm>
            <a:off x="9555480" y="224028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000" b="1">
                <a:solidFill>
                  <a:srgbClr val="22B8A6"/>
                </a:solidFill>
                <a:latin typeface="Microsoft YaHei"/>
                <a:ea typeface="Microsoft YaHei"/>
                <a:cs typeface="Microsoft YaHei"/>
              </a:rPr>
              <a:t>●</a:t>
            </a:r>
            <a:endParaRPr/>
          </a:p>
        </p:txBody>
      </p:sp>
      <p:sp>
        <p:nvSpPr>
          <p:cNvPr id="121" name="TextBox 20"/>
          <p:cNvSpPr txBox="1"/>
          <p:nvPr/>
        </p:nvSpPr>
        <p:spPr>
          <a:xfrm>
            <a:off x="8412480" y="3200400"/>
            <a:ext cx="3111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200" b="1">
                <a:solidFill>
                  <a:srgbClr val="0E3B3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材料学</a:t>
            </a:r>
            <a:r>
              <a:rPr sz="2200" b="1">
                <a:solidFill>
                  <a:srgbClr val="0E3B3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· 全覆盖</a:t>
            </a:r>
            <a:endParaRPr/>
          </a:p>
        </p:txBody>
      </p:sp>
      <p:sp>
        <p:nvSpPr>
          <p:cNvPr id="122" name="TextBox 21"/>
          <p:cNvSpPr txBox="1"/>
          <p:nvPr/>
        </p:nvSpPr>
        <p:spPr>
          <a:xfrm>
            <a:off x="8412480" y="3840480"/>
            <a:ext cx="31089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10 大材料方向、12 性能族、250+ 中英双语指标词表，从金属到能源到生物医用一体适用。</a:t>
            </a:r>
            <a:endParaRPr/>
          </a:p>
        </p:txBody>
      </p:sp>
      <p:sp>
        <p:nvSpPr>
          <p:cNvPr id="123" name="TextBox 22"/>
          <p:cNvSpPr txBox="1"/>
          <p:nvPr/>
        </p:nvSpPr>
        <p:spPr>
          <a:xfrm>
            <a:off x="548640" y="630936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LATTICE · 材料学科科研自动化平台</a:t>
            </a:r>
            <a:endParaRPr/>
          </a:p>
        </p:txBody>
      </p:sp>
      <p:sp>
        <p:nvSpPr>
          <p:cNvPr id="124" name="TextBox 23"/>
          <p:cNvSpPr txBox="1"/>
          <p:nvPr/>
        </p:nvSpPr>
        <p:spPr>
          <a:xfrm>
            <a:off x="10972800" y="630936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5B6B6A"/>
                </a:solidFill>
                <a:latin typeface="Microsoft YaHei"/>
                <a:ea typeface="Microsoft YaHei"/>
                <a:cs typeface="Microsoft YaHei"/>
              </a:rPr>
              <a:t>13 / 14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7" name="Connector 2"/>
          <p:cNvCxnSpPr/>
          <p:nvPr/>
        </p:nvCxnSpPr>
        <p:spPr>
          <a:xfrm flipH="1">
            <a:off x="1280160" y="1097280"/>
            <a:ext cx="4815230" cy="4297680"/>
          </a:xfrm>
          <a:prstGeom prst="line">
            <a:avLst/>
          </a:prstGeom>
          <a:ln w="17780">
            <a:solidFill>
              <a:srgbClr val="22B8A6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3"/>
          <p:cNvCxnSpPr/>
          <p:nvPr/>
        </p:nvCxnSpPr>
        <p:spPr>
          <a:xfrm flipH="1">
            <a:off x="2468880" y="1097280"/>
            <a:ext cx="3626510" cy="4297680"/>
          </a:xfrm>
          <a:prstGeom prst="line">
            <a:avLst/>
          </a:prstGeom>
          <a:ln w="17780">
            <a:solidFill>
              <a:srgbClr val="22B8A6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4"/>
          <p:cNvCxnSpPr/>
          <p:nvPr/>
        </p:nvCxnSpPr>
        <p:spPr>
          <a:xfrm flipH="1">
            <a:off x="3657600" y="1097280"/>
            <a:ext cx="2437790" cy="4297680"/>
          </a:xfrm>
          <a:prstGeom prst="line">
            <a:avLst/>
          </a:prstGeom>
          <a:ln w="17780">
            <a:solidFill>
              <a:srgbClr val="22B8A6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5"/>
          <p:cNvCxnSpPr/>
          <p:nvPr/>
        </p:nvCxnSpPr>
        <p:spPr>
          <a:xfrm flipH="1">
            <a:off x="4846320" y="1097280"/>
            <a:ext cx="1249070" cy="4297680"/>
          </a:xfrm>
          <a:prstGeom prst="line">
            <a:avLst/>
          </a:prstGeom>
          <a:ln w="17780">
            <a:solidFill>
              <a:srgbClr val="22B8A6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6"/>
          <p:cNvCxnSpPr/>
          <p:nvPr/>
        </p:nvCxnSpPr>
        <p:spPr>
          <a:xfrm flipH="1">
            <a:off x="6035040" y="1097280"/>
            <a:ext cx="60350" cy="4297680"/>
          </a:xfrm>
          <a:prstGeom prst="line">
            <a:avLst/>
          </a:prstGeom>
          <a:ln w="17780">
            <a:solidFill>
              <a:srgbClr val="22B8A6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7"/>
          <p:cNvCxnSpPr/>
          <p:nvPr/>
        </p:nvCxnSpPr>
        <p:spPr>
          <a:xfrm>
            <a:off x="6095390" y="1097280"/>
            <a:ext cx="1128370" cy="4297680"/>
          </a:xfrm>
          <a:prstGeom prst="line">
            <a:avLst/>
          </a:prstGeom>
          <a:ln w="17780">
            <a:solidFill>
              <a:srgbClr val="22B8A6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8"/>
          <p:cNvCxnSpPr/>
          <p:nvPr/>
        </p:nvCxnSpPr>
        <p:spPr>
          <a:xfrm>
            <a:off x="6095390" y="1097280"/>
            <a:ext cx="2317090" cy="4297680"/>
          </a:xfrm>
          <a:prstGeom prst="line">
            <a:avLst/>
          </a:prstGeom>
          <a:ln w="17780">
            <a:solidFill>
              <a:srgbClr val="22B8A6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9"/>
          <p:cNvCxnSpPr/>
          <p:nvPr/>
        </p:nvCxnSpPr>
        <p:spPr>
          <a:xfrm>
            <a:off x="6095390" y="1097280"/>
            <a:ext cx="3505810" cy="4297680"/>
          </a:xfrm>
          <a:prstGeom prst="line">
            <a:avLst/>
          </a:prstGeom>
          <a:ln w="17780">
            <a:solidFill>
              <a:srgbClr val="22B8A6">
                <a:alpha val="3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Oval 10"/>
          <p:cNvSpPr/>
          <p:nvPr/>
        </p:nvSpPr>
        <p:spPr>
          <a:xfrm>
            <a:off x="9537192" y="5330952"/>
            <a:ext cx="164592" cy="164592"/>
          </a:xfrm>
          <a:prstGeom prst="ellipse">
            <a:avLst/>
          </a:prstGeom>
          <a:solidFill>
            <a:srgbClr val="7F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6" name="Connector 11"/>
          <p:cNvCxnSpPr/>
          <p:nvPr/>
        </p:nvCxnSpPr>
        <p:spPr>
          <a:xfrm flipH="1">
            <a:off x="1280160" y="5394960"/>
            <a:ext cx="1188720" cy="0"/>
          </a:xfrm>
          <a:prstGeom prst="line">
            <a:avLst/>
          </a:prstGeom>
          <a:ln w="15240">
            <a:solidFill>
              <a:srgbClr val="22B8A6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2"/>
          <p:cNvCxnSpPr/>
          <p:nvPr/>
        </p:nvCxnSpPr>
        <p:spPr>
          <a:xfrm flipH="1">
            <a:off x="2468880" y="5394960"/>
            <a:ext cx="1188720" cy="0"/>
          </a:xfrm>
          <a:prstGeom prst="line">
            <a:avLst/>
          </a:prstGeom>
          <a:ln w="15240">
            <a:solidFill>
              <a:srgbClr val="22B8A6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"/>
          <p:cNvCxnSpPr/>
          <p:nvPr/>
        </p:nvCxnSpPr>
        <p:spPr>
          <a:xfrm flipH="1">
            <a:off x="3657600" y="5394960"/>
            <a:ext cx="1188720" cy="0"/>
          </a:xfrm>
          <a:prstGeom prst="line">
            <a:avLst/>
          </a:prstGeom>
          <a:ln w="15240">
            <a:solidFill>
              <a:srgbClr val="22B8A6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4"/>
          <p:cNvCxnSpPr/>
          <p:nvPr/>
        </p:nvCxnSpPr>
        <p:spPr>
          <a:xfrm flipH="1">
            <a:off x="4846320" y="5394960"/>
            <a:ext cx="1188720" cy="0"/>
          </a:xfrm>
          <a:prstGeom prst="line">
            <a:avLst/>
          </a:prstGeom>
          <a:ln w="15240">
            <a:solidFill>
              <a:srgbClr val="22B8A6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5"/>
          <p:cNvCxnSpPr/>
          <p:nvPr/>
        </p:nvCxnSpPr>
        <p:spPr>
          <a:xfrm flipH="1">
            <a:off x="6035040" y="5394960"/>
            <a:ext cx="1188719" cy="0"/>
          </a:xfrm>
          <a:prstGeom prst="line">
            <a:avLst/>
          </a:prstGeom>
          <a:ln w="15240">
            <a:solidFill>
              <a:srgbClr val="22B8A6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6"/>
          <p:cNvCxnSpPr/>
          <p:nvPr/>
        </p:nvCxnSpPr>
        <p:spPr>
          <a:xfrm flipH="1">
            <a:off x="7223760" y="5394960"/>
            <a:ext cx="1188720" cy="0"/>
          </a:xfrm>
          <a:prstGeom prst="line">
            <a:avLst/>
          </a:prstGeom>
          <a:ln w="15240">
            <a:solidFill>
              <a:srgbClr val="22B8A6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7"/>
          <p:cNvCxnSpPr/>
          <p:nvPr/>
        </p:nvCxnSpPr>
        <p:spPr>
          <a:xfrm flipH="1">
            <a:off x="8412480" y="5394960"/>
            <a:ext cx="1188720" cy="0"/>
          </a:xfrm>
          <a:prstGeom prst="line">
            <a:avLst/>
          </a:prstGeom>
          <a:ln w="15240">
            <a:solidFill>
              <a:srgbClr val="22B8A6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8"/>
          <p:cNvSpPr/>
          <p:nvPr/>
        </p:nvSpPr>
        <p:spPr>
          <a:xfrm>
            <a:off x="5930798" y="932688"/>
            <a:ext cx="329184" cy="329184"/>
          </a:xfrm>
          <a:prstGeom prst="ellipse">
            <a:avLst/>
          </a:prstGeom>
          <a:solidFill>
            <a:srgbClr val="7F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9"/>
          <p:cNvSpPr/>
          <p:nvPr/>
        </p:nvSpPr>
        <p:spPr>
          <a:xfrm>
            <a:off x="5821070" y="822960"/>
            <a:ext cx="548640" cy="548640"/>
          </a:xfrm>
          <a:prstGeom prst="ellipse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20"/>
          <p:cNvSpPr/>
          <p:nvPr/>
        </p:nvSpPr>
        <p:spPr>
          <a:xfrm>
            <a:off x="5821070" y="822960"/>
            <a:ext cx="548640" cy="548640"/>
          </a:xfrm>
          <a:prstGeom prst="ellipse">
            <a:avLst/>
          </a:prstGeom>
          <a:solidFill>
            <a:srgbClr val="22B8A6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21"/>
          <p:cNvSpPr txBox="1"/>
          <p:nvPr/>
        </p:nvSpPr>
        <p:spPr>
          <a:xfrm>
            <a:off x="0" y="2286000"/>
            <a:ext cx="1219169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把科研的重复劳动，</a:t>
            </a:r>
            <a:endParaRPr/>
          </a:p>
          <a:p>
            <a:pPr algn="ctr">
              <a:lnSpc>
                <a:spcPct val="120000"/>
              </a:lnSpc>
            </a:pPr>
            <a:r>
              <a:rPr sz="5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交给 LATTICE。</a:t>
            </a:r>
            <a:endParaRPr/>
          </a:p>
        </p:txBody>
      </p:sp>
      <p:sp>
        <p:nvSpPr>
          <p:cNvPr id="147" name="Rectangle 22"/>
          <p:cNvSpPr/>
          <p:nvPr/>
        </p:nvSpPr>
        <p:spPr>
          <a:xfrm>
            <a:off x="5029200" y="3931920"/>
            <a:ext cx="2103120" cy="54864"/>
          </a:xfrm>
          <a:prstGeom prst="rect">
            <a:avLst/>
          </a:prstGeom>
          <a:solidFill>
            <a:srgbClr val="2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23"/>
          <p:cNvSpPr txBox="1"/>
          <p:nvPr/>
        </p:nvSpPr>
        <p:spPr>
          <a:xfrm>
            <a:off x="0" y="4297680"/>
            <a:ext cx="12192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0">
                <a:solidFill>
                  <a:srgbClr val="CFE9E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现在就双击</a:t>
            </a:r>
            <a:r>
              <a:rPr lang="zh-CN" sz="2200" b="0">
                <a:solidFill>
                  <a:srgbClr val="CFE9E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进入</a:t>
            </a:r>
            <a:r>
              <a:rPr lang="en-US" sz="2200" b="0">
                <a:solidFill>
                  <a:srgbClr val="CFE9E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LATTICE</a:t>
            </a:r>
            <a:r>
              <a:rPr sz="2200" b="0">
                <a:solidFill>
                  <a:srgbClr val="CFE9E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，开启你的十环节科研流水线。</a:t>
            </a:r>
            <a:endParaRPr/>
          </a:p>
        </p:txBody>
      </p:sp>
      <p:sp>
        <p:nvSpPr>
          <p:cNvPr id="149" name="TextBox 24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CFE9E4"/>
                </a:solidFill>
                <a:latin typeface="Microsoft YaHei"/>
                <a:ea typeface="Microsoft YaHei"/>
                <a:cs typeface="Microsoft YaHei"/>
              </a:rPr>
              <a:t>LATTICE · 材料学科科研自动化平台</a:t>
            </a:r>
            <a:endParaRPr/>
          </a:p>
        </p:txBody>
      </p:sp>
      <p:sp>
        <p:nvSpPr>
          <p:cNvPr id="150" name="TextBox 25"/>
          <p:cNvSpPr txBox="1"/>
          <p:nvPr/>
        </p:nvSpPr>
        <p:spPr>
          <a:xfrm>
            <a:off x="10972800" y="61264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0">
                <a:solidFill>
                  <a:srgbClr val="CFE9E4"/>
                </a:solidFill>
                <a:latin typeface="Microsoft YaHei"/>
                <a:ea typeface="Microsoft YaHei"/>
                <a:cs typeface="Microsoft YaHei"/>
              </a:rPr>
              <a:t>14 / 14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2026-09-23T13:47:04Z</dcterms:created>
  <dcterms:modified xsi:type="dcterms:W3CDTF">2026-09-23T13:47:04Z</dcterms:modified>
</cp:coreProperties>
</file>